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5.xml"/>
  <Override ContentType="application/vnd.openxmlformats-officedocument.drawingml.chart+xml" PartName="/ppt/charts/chart4.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Fira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5YpyQjWLpTfOktk0m6id9/V2f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E5AA1A-98C8-4D8A-AA7A-78E03AE21ED6}">
  <a:tblStyle styleId="{ABE5AA1A-98C8-4D8A-AA7A-78E03AE21ED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FiraSans-italic.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FiraSans-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FiraSans-bold.fntdata"/><Relationship Id="rId6" Type="http://schemas.openxmlformats.org/officeDocument/2006/relationships/slide" Target="slides/slide1.xml"/><Relationship Id="rId18" Type="http://schemas.openxmlformats.org/officeDocument/2006/relationships/font" Target="fonts/FiraSans-regular.fntdata"/><Relationship Id="rId7" Type="http://schemas.openxmlformats.org/officeDocument/2006/relationships/slide" Target="slides/slide2.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ChartSnapshot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ChartSnapshot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ChartSnapshot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ChartSnapshot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ChartSnapshot1" Type="http://schemas.openxmlformats.org/officeDocument/2006/relationships/package" Target="../embeddings/Microsoft_Excel_Sheet5.xlsx"/></Relationships>
</file>

<file path=ppt/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Metadata share</c:v>
          </c:tx>
          <c:spPr>
            <a:solidFill xmlns:a="http://schemas.openxmlformats.org/drawingml/2006/main">
              <a:srgbClr val="087F83"/>
            </a:solidFill>
          </c:spPr>
          <c:invertIfNegative val="0"/>
          <c:cat>
            <c:strRef>
              <c:f>'Chart Data'!$A$2:$A$4</c:f>
              <c:strCache>
                <c:ptCount val="3"/>
                <c:pt idx="0">
                  <c:v>2 MiB</c:v>
                </c:pt>
                <c:pt idx="1">
                  <c:v>8 MiB</c:v>
                </c:pt>
                <c:pt idx="2">
                  <c:v>32 MiB</c:v>
                </c:pt>
              </c:strCache>
            </c:strRef>
          </c:cat>
          <c:val>
            <c:numRef>
              <c:f>'Chart Data'!$B$2:$B$4</c:f>
              <c:numCache>
                <c:formatCode>0.000"%"</c:formatCode>
                <c:ptCount val="3"/>
                <c:pt idx="0">
                  <c:v>0.977</c:v>
                </c:pt>
                <c:pt idx="1">
                  <c:v>0.684</c:v>
                </c:pt>
                <c:pt idx="2">
                  <c:v>0.61</c:v>
                </c:pt>
              </c:numCache>
            </c:numRef>
          </c:val>
        </c:ser>
        <c:dLbls>
          <c:numFmt formatCode="0.000&quot;%&quot;" sourceLinked="0"/>
          <c:txPr>
            <a:bodyPr xmlns:a="http://schemas.openxmlformats.org/drawingml/2006/main" anchorCtr="1"/>
            <a:lstStyle xmlns:a="http://schemas.openxmlformats.org/drawingml/2006/main"/>
            <a:p xmlns:a="http://schemas.openxmlformats.org/drawingml/2006/main">
              <a:pPr>
                <a:defRPr sz="1650" b="1">
                  <a:solidFill>
                    <a:srgbClr val="142330"/>
                  </a:solidFill>
                  <a:latin typeface="Fira Sans"/>
                  <a:ea typeface="Fira Sans"/>
                  <a:cs typeface="Fira Sans"/>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52616B"/>
            </a:solidFill>
          </a:ln>
        </c:spPr>
        <c:txPr>
          <a:bodyPr xmlns:a="http://schemas.openxmlformats.org/drawingml/2006/main" anchorCtr="1"/>
          <a:lstStyle xmlns:a="http://schemas.openxmlformats.org/drawingml/2006/main"/>
          <a:p xmlns:a="http://schemas.openxmlformats.org/drawingml/2006/main">
            <a:pPr>
              <a:defRPr sz="1500">
                <a:solidFill>
                  <a:srgbClr val="52616B"/>
                </a:solidFill>
                <a:latin typeface="Fira Sans"/>
                <a:ea typeface="Fira Sans"/>
                <a:cs typeface="Fira Sans"/>
              </a:defRPr>
            </a:pPr>
          </a:p>
        </c:txPr>
        <c:crossAx val="48672768"/>
      </c:catAx>
      <c:valAx>
        <c:axId val="48672768"/>
        <c:scaling>
          <c:orientation val="minMax"/>
          <c:max val="1.2"/>
          <c:min val="0"/>
        </c:scaling>
        <c:delete val="0"/>
        <c:axPos val="l"/>
        <c:majorGridlines>
          <c:spPr>
            <a:ln xmlns:a="http://schemas.openxmlformats.org/drawingml/2006/main" w="5715">
              <a:solidFill>
                <a:srgbClr val="CCD3D4"/>
              </a:solidFill>
            </a:ln>
          </c:spPr>
        </c:majorGridlines>
        <c:numFmt formatCode="0.00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2616B"/>
                </a:solidFill>
                <a:latin typeface="Fira Sans"/>
                <a:ea typeface="Fira Sans"/>
                <a:cs typeface="Fira Sans"/>
              </a:defRPr>
            </a:pPr>
          </a:p>
        </c:txPr>
        <c:crossAx val="48650112"/>
        <c:crossBetween val="between"/>
        <c:majorUnit val="0.3"/>
      </c:valAx>
      <c:spPr>
        <a:solidFill xmlns:a="http://schemas.openxmlformats.org/drawingml/2006/main">
          <a:srgbClr val="F5F3ED"/>
        </a:solidFill>
      </c:spPr>
    </c:plotArea>
    <c:plotVisOnly val="1"/>
  </c:chart>
  <c:spPr>
    <a:solidFill xmlns:a="http://schemas.openxmlformats.org/drawingml/2006/main">
      <a:srgbClr val="F5F3ED"/>
    </a:solidFill>
  </c:spPr>
  <c:externalData r:id="rIdChartSnapshot1">
    <c:autoUpdate val="0"/>
  </c:externalData>
</c:chartSpace>
</file>

<file path=ppt/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Test accuracy</c:v>
          </c:tx>
          <c:spPr>
            <a:solidFill xmlns:a="http://schemas.openxmlformats.org/drawingml/2006/main">
              <a:srgbClr val="087F83"/>
            </a:solidFill>
          </c:spPr>
          <c:invertIfNegative val="0"/>
          <c:dPt>
            <c:idx val="6"/>
            <c:invertIfNegative val="0"/>
            <c:spPr>
              <a:solidFill xmlns:a="http://schemas.openxmlformats.org/drawingml/2006/main">
                <a:srgbClr val="E4A34B"/>
              </a:solidFill>
            </c:spPr>
          </c:dPt>
          <c:cat>
            <c:strRef>
              <c:f>'Chart Data'!$A$2:$A$8</c:f>
              <c:strCache>
                <c:ptCount val="7"/>
                <c:pt idx="0">
                  <c:v>Sunbird</c:v>
                </c:pt>
                <c:pt idx="1">
                  <c:v>Charnwood</c:v>
                </c:pt>
                <c:pt idx="2">
                  <c:v>Ookay</c:v>
                </c:pt>
                <c:pt idx="3">
                  <c:v>Upgrade</c:v>
                </c:pt>
                <c:pt idx="4">
                  <c:v>Crux</c:v>
                </c:pt>
                <c:pt idx="5">
                  <c:v>Artemisia</c:v>
                </c:pt>
                <c:pt idx="6">
                  <c:v>Skylark</c:v>
                </c:pt>
              </c:strCache>
            </c:strRef>
          </c:cat>
          <c:val>
            <c:numRef>
              <c:f>'Chart Data'!$B$2:$B$8</c:f>
              <c:numCache>
                <c:formatCode>0.0"%"</c:formatCode>
                <c:ptCount val="7"/>
                <c:pt idx="0">
                  <c:v>99.62</c:v>
                </c:pt>
                <c:pt idx="1">
                  <c:v>99.929</c:v>
                </c:pt>
                <c:pt idx="2">
                  <c:v>98.178</c:v>
                </c:pt>
                <c:pt idx="3">
                  <c:v>99.511</c:v>
                </c:pt>
                <c:pt idx="4">
                  <c:v>94.066</c:v>
                </c:pt>
                <c:pt idx="5">
                  <c:v>99.927</c:v>
                </c:pt>
                <c:pt idx="6">
                  <c:v>51.842</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650" b="1">
                  <a:solidFill>
                    <a:srgbClr val="142330"/>
                  </a:solidFill>
                  <a:latin typeface="Fira Sans"/>
                  <a:ea typeface="Fira Sans"/>
                  <a:cs typeface="Fira Sans"/>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52616B"/>
            </a:solidFill>
          </a:ln>
        </c:spPr>
        <c:txPr>
          <a:bodyPr xmlns:a="http://schemas.openxmlformats.org/drawingml/2006/main" anchorCtr="1"/>
          <a:lstStyle xmlns:a="http://schemas.openxmlformats.org/drawingml/2006/main"/>
          <a:p xmlns:a="http://schemas.openxmlformats.org/drawingml/2006/main">
            <a:pPr>
              <a:defRPr sz="1500">
                <a:solidFill>
                  <a:srgbClr val="52616B"/>
                </a:solidFill>
                <a:latin typeface="Fira Sans"/>
                <a:ea typeface="Fira Sans"/>
                <a:cs typeface="Fira Sans"/>
              </a:defRPr>
            </a:pPr>
          </a:p>
        </c:txPr>
        <c:crossAx val="48672768"/>
      </c:catAx>
      <c:valAx>
        <c:axId val="48672768"/>
        <c:scaling>
          <c:orientation val="minMax"/>
          <c:max val="110"/>
          <c:min val="0"/>
        </c:scaling>
        <c:delete val="0"/>
        <c:axPos val="l"/>
        <c:majorGridlines>
          <c:spPr>
            <a:ln xmlns:a="http://schemas.openxmlformats.org/drawingml/2006/main" w="5715">
              <a:solidFill>
                <a:srgbClr val="CCD3D4"/>
              </a:solidFill>
            </a:ln>
          </c:spPr>
        </c:majorGridlines>
        <c:numFmt formatCode="0.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2616B"/>
                </a:solidFill>
                <a:latin typeface="Fira Sans"/>
                <a:ea typeface="Fira Sans"/>
                <a:cs typeface="Fira Sans"/>
              </a:defRPr>
            </a:pPr>
          </a:p>
        </c:txPr>
        <c:crossAx val="48650112"/>
        <c:crossBetween val="between"/>
        <c:majorUnit val="25"/>
      </c:valAx>
      <c:spPr>
        <a:solidFill xmlns:a="http://schemas.openxmlformats.org/drawingml/2006/main">
          <a:srgbClr val="F5F3ED"/>
        </a:solidFill>
      </c:spPr>
    </c:plotArea>
    <c:plotVisOnly val="1"/>
  </c:chart>
  <c:spPr>
    <a:solidFill xmlns:a="http://schemas.openxmlformats.org/drawingml/2006/main">
      <a:srgbClr val="F5F3ED"/>
    </a:solidFill>
  </c:spPr>
  <c:externalData r:id="rIdChartSnapshot1">
    <c:autoUpdate val="0"/>
  </c:externalData>
</c:chartSpace>
</file>

<file path=ppt/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Accuracy</c:v>
          </c:tx>
          <c:spPr>
            <a:solidFill xmlns:a="http://schemas.openxmlformats.org/drawingml/2006/main">
              <a:srgbClr val="80979E"/>
            </a:solidFill>
          </c:spPr>
          <c:invertIfNegative val="0"/>
          <c:dPt>
            <c:idx val="6"/>
            <c:invertIfNegative val="0"/>
            <c:spPr>
              <a:solidFill xmlns:a="http://schemas.openxmlformats.org/drawingml/2006/main">
                <a:srgbClr val="087F83"/>
              </a:solidFill>
            </c:spPr>
          </c:dPt>
          <c:cat>
            <c:strRef>
              <c:f>'Chart Data'!$A$2:$A$9</c:f>
              <c:strCache>
                <c:ptCount val="8"/>
                <c:pt idx="0">
                  <c:v>Sunbird</c:v>
                </c:pt>
                <c:pt idx="1">
                  <c:v>Charnwood</c:v>
                </c:pt>
                <c:pt idx="2">
                  <c:v>Ookay</c:v>
                </c:pt>
                <c:pt idx="3">
                  <c:v>Upgrade</c:v>
                </c:pt>
                <c:pt idx="4">
                  <c:v>Crux</c:v>
                </c:pt>
                <c:pt idx="5">
                  <c:v>Artemisia</c:v>
                </c:pt>
                <c:pt idx="6">
                  <c:v>Greenforest</c:v>
                </c:pt>
                <c:pt idx="7">
                  <c:v>Elevation</c:v>
                </c:pt>
              </c:strCache>
            </c:strRef>
          </c:cat>
          <c:val>
            <c:numRef>
              <c:f>'Chart Data'!$B$2:$B$9</c:f>
              <c:numCache>
                <c:formatCode>0.00"%"</c:formatCode>
                <c:ptCount val="8"/>
                <c:pt idx="0">
                  <c:v>78.32</c:v>
                </c:pt>
                <c:pt idx="1">
                  <c:v>76.85</c:v>
                </c:pt>
                <c:pt idx="2">
                  <c:v>76.71</c:v>
                </c:pt>
                <c:pt idx="3">
                  <c:v>75.1</c:v>
                </c:pt>
                <c:pt idx="4">
                  <c:v>81.06</c:v>
                </c:pt>
                <c:pt idx="5">
                  <c:v>76.53</c:v>
                </c:pt>
                <c:pt idx="6">
                  <c:v>99.98</c:v>
                </c:pt>
                <c:pt idx="7">
                  <c:v>81.83</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sz="1650" b="1">
                  <a:solidFill>
                    <a:srgbClr val="142330"/>
                  </a:solidFill>
                  <a:latin typeface="Fira Sans"/>
                  <a:ea typeface="Fira Sans"/>
                  <a:cs typeface="Fira Sans"/>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52616B"/>
            </a:solidFill>
          </a:ln>
        </c:spPr>
        <c:txPr>
          <a:bodyPr xmlns:a="http://schemas.openxmlformats.org/drawingml/2006/main" anchorCtr="1"/>
          <a:lstStyle xmlns:a="http://schemas.openxmlformats.org/drawingml/2006/main"/>
          <a:p xmlns:a="http://schemas.openxmlformats.org/drawingml/2006/main">
            <a:pPr>
              <a:defRPr sz="1500">
                <a:solidFill>
                  <a:srgbClr val="52616B"/>
                </a:solidFill>
                <a:latin typeface="Fira Sans"/>
                <a:ea typeface="Fira Sans"/>
                <a:cs typeface="Fira Sans"/>
              </a:defRPr>
            </a:pPr>
          </a:p>
        </c:txPr>
        <c:crossAx val="48672768"/>
      </c:catAx>
      <c:valAx>
        <c:axId val="48672768"/>
        <c:scaling>
          <c:orientation val="minMax"/>
          <c:max val="110"/>
          <c:min val="0"/>
        </c:scaling>
        <c:delete val="0"/>
        <c:axPos val="l"/>
        <c:majorGridlines>
          <c:spPr>
            <a:ln xmlns:a="http://schemas.openxmlformats.org/drawingml/2006/main" w="5715">
              <a:solidFill>
                <a:srgbClr val="CCD3D4"/>
              </a:solidFill>
            </a:ln>
          </c:spPr>
        </c:majorGridlines>
        <c:numFmt formatCode="0.0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2616B"/>
                </a:solidFill>
                <a:latin typeface="Fira Sans"/>
                <a:ea typeface="Fira Sans"/>
                <a:cs typeface="Fira Sans"/>
              </a:defRPr>
            </a:pPr>
          </a:p>
        </c:txPr>
        <c:crossAx val="48650112"/>
        <c:crossBetween val="between"/>
        <c:majorUnit val="25"/>
      </c:valAx>
      <c:spPr>
        <a:solidFill xmlns:a="http://schemas.openxmlformats.org/drawingml/2006/main">
          <a:srgbClr val="F5F3ED"/>
        </a:solidFill>
      </c:spPr>
    </c:plotArea>
    <c:plotVisOnly val="1"/>
  </c:chart>
  <c:spPr>
    <a:solidFill xmlns:a="http://schemas.openxmlformats.org/drawingml/2006/main">
      <a:srgbClr val="F5F3ED"/>
    </a:solidFill>
  </c:spPr>
  <c:externalData r:id="rIdChartSnapshot1">
    <c:autoUpdate val="0"/>
  </c:externalData>
</c:chartSpace>
</file>

<file path=ppt/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Initial run</c:v>
          </c:tx>
          <c:spPr>
            <a:solidFill xmlns:a="http://schemas.openxmlformats.org/drawingml/2006/main">
              <a:srgbClr val="8EA0AA"/>
            </a:solidFill>
          </c:spPr>
          <c:invertIfNegative val="0"/>
          <c:cat>
            <c:strRef>
              <c:f>'Chart Data'!$A$2:$A$4</c:f>
              <c:strCache>
                <c:ptCount val="3"/>
                <c:pt idx="0">
                  <c:v>Elevation
single</c:v>
                </c:pt>
                <c:pt idx="1">
                  <c:v>Greenforest
single</c:v>
                </c:pt>
                <c:pt idx="2">
                  <c:v>Greenforest
split threads</c:v>
                </c:pt>
              </c:strCache>
            </c:strRef>
          </c:cat>
          <c:val>
            <c:numRef>
              <c:f>'Chart Data'!$B$2:$B$4</c:f>
              <c:numCache>
                <c:formatCode>0.0"%"</c:formatCode>
                <c:ptCount val="3"/>
                <c:pt idx="0">
                  <c:v>50</c:v>
                </c:pt>
                <c:pt idx="1">
                  <c:v>50</c:v>
                </c:pt>
                <c:pt idx="2">
                  <c:v>45.6</c:v>
                </c:pt>
              </c:numCache>
            </c:numRef>
          </c:val>
        </c:ser>
        <c:ser>
          <c:idx val="1"/>
          <c:order val="1"/>
          <c:tx>
            <c:v>Longer warm-up</c:v>
          </c:tx>
          <c:spPr>
            <a:solidFill xmlns:a="http://schemas.openxmlformats.org/drawingml/2006/main">
              <a:srgbClr val="087F83"/>
            </a:solidFill>
          </c:spPr>
          <c:invertIfNegative val="0"/>
          <c:cat>
            <c:strRef>
              <c:f>'Chart Data'!$C$2:$C$4</c:f>
              <c:strCache>
                <c:ptCount val="3"/>
                <c:pt idx="0">
                  <c:v>Elevation
single</c:v>
                </c:pt>
                <c:pt idx="1">
                  <c:v>Greenforest
single</c:v>
                </c:pt>
                <c:pt idx="2">
                  <c:v>Greenforest
split threads</c:v>
                </c:pt>
              </c:strCache>
            </c:strRef>
          </c:cat>
          <c:val>
            <c:numRef>
              <c:f>'Chart Data'!$D$2:$D$4</c:f>
              <c:numCache>
                <c:formatCode>0.0"%"</c:formatCode>
                <c:ptCount val="3"/>
                <c:pt idx="0">
                  <c:v>100</c:v>
                </c:pt>
                <c:pt idx="1">
                  <c:v>63.2</c:v>
                </c:pt>
                <c:pt idx="2">
                  <c:v>80.7</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650" b="1">
                  <a:solidFill>
                    <a:srgbClr val="142330"/>
                  </a:solidFill>
                  <a:latin typeface="Fira Sans"/>
                  <a:ea typeface="Fira Sans"/>
                  <a:cs typeface="Fira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52616B"/>
            </a:solidFill>
          </a:ln>
        </c:spPr>
        <c:txPr>
          <a:bodyPr xmlns:a="http://schemas.openxmlformats.org/drawingml/2006/main" anchorCtr="1"/>
          <a:lstStyle xmlns:a="http://schemas.openxmlformats.org/drawingml/2006/main"/>
          <a:p xmlns:a="http://schemas.openxmlformats.org/drawingml/2006/main">
            <a:pPr>
              <a:defRPr sz="1500">
                <a:solidFill>
                  <a:srgbClr val="52616B"/>
                </a:solidFill>
                <a:latin typeface="Fira Sans"/>
                <a:ea typeface="Fira Sans"/>
                <a:cs typeface="Fira Sans"/>
              </a:defRPr>
            </a:pPr>
          </a:p>
        </c:txPr>
        <c:crossAx val="48672768"/>
      </c:catAx>
      <c:valAx>
        <c:axId val="48672768"/>
        <c:scaling>
          <c:orientation val="minMax"/>
          <c:max val="110"/>
          <c:min val="0"/>
        </c:scaling>
        <c:delete val="0"/>
        <c:axPos val="l"/>
        <c:majorGridlines>
          <c:spPr>
            <a:ln xmlns:a="http://schemas.openxmlformats.org/drawingml/2006/main" w="5715">
              <a:solidFill>
                <a:srgbClr val="CCD3D4"/>
              </a:solidFill>
            </a:ln>
          </c:spPr>
        </c:majorGridlines>
        <c:numFmt formatCode="0.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2616B"/>
                </a:solidFill>
                <a:latin typeface="Fira Sans"/>
                <a:ea typeface="Fira Sans"/>
                <a:cs typeface="Fira Sans"/>
              </a:defRPr>
            </a:pPr>
          </a:p>
        </c:txPr>
        <c:crossAx val="48650112"/>
        <c:crossBetween val="between"/>
        <c:majorUnit val="25"/>
      </c:valAx>
      <c:spPr>
        <a:solidFill xmlns:a="http://schemas.openxmlformats.org/drawingml/2006/main">
          <a:srgbClr val="F5F3ED"/>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2616B"/>
              </a:solidFill>
              <a:latin typeface="Fira Sans"/>
              <a:ea typeface="Fira Sans"/>
              <a:cs typeface="Fira Sans"/>
            </a:defRPr>
          </a:pPr>
        </a:p>
      </c:txPr>
    </c:legend>
    <c:plotVisOnly val="1"/>
  </c:chart>
  <c:spPr>
    <a:solidFill xmlns:a="http://schemas.openxmlformats.org/drawingml/2006/main">
      <a:srgbClr val="F5F3ED"/>
    </a:solidFill>
  </c:spPr>
  <c:externalData r:id="rIdChartSnapshot1">
    <c:autoUpdate val="0"/>
  </c:externalData>
</c:chartSpace>
</file>

<file path=ppt/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Pointer</c:v>
          </c:tx>
          <c:spPr>
            <a:solidFill xmlns:a="http://schemas.openxmlformats.org/drawingml/2006/main">
              <a:srgbClr val="087F83"/>
            </a:solidFill>
          </c:spPr>
          <c:invertIfNegative val="0"/>
          <c:cat>
            <c:strRef>
              <c:f>'Chart Data'!$A$2:$A$4</c:f>
              <c:strCache>
                <c:ptCount val="3"/>
                <c:pt idx="0">
                  <c:v>Run 1</c:v>
                </c:pt>
                <c:pt idx="1">
                  <c:v>Run 2</c:v>
                </c:pt>
                <c:pt idx="2">
                  <c:v>Run 3</c:v>
                </c:pt>
              </c:strCache>
            </c:strRef>
          </c:cat>
          <c:val>
            <c:numRef>
              <c:f>'Chart Data'!$B$2:$B$4</c:f>
              <c:numCache>
                <c:formatCode>0.00"%"</c:formatCode>
                <c:ptCount val="3"/>
                <c:pt idx="0">
                  <c:v>3.68</c:v>
                </c:pt>
                <c:pt idx="1">
                  <c:v>2.21</c:v>
                </c:pt>
                <c:pt idx="2">
                  <c:v>3.23</c:v>
                </c:pt>
              </c:numCache>
            </c:numRef>
          </c:val>
        </c:ser>
        <c:ser>
          <c:idx val="1"/>
          <c:order val="1"/>
          <c:tx>
            <c:v>Garbage control</c:v>
          </c:tx>
          <c:spPr>
            <a:solidFill xmlns:a="http://schemas.openxmlformats.org/drawingml/2006/main">
              <a:srgbClr val="B64D39"/>
            </a:solidFill>
          </c:spPr>
          <c:invertIfNegative val="0"/>
          <c:cat>
            <c:strRef>
              <c:f>'Chart Data'!$C$2:$C$4</c:f>
              <c:strCache>
                <c:ptCount val="3"/>
                <c:pt idx="0">
                  <c:v>Run 1</c:v>
                </c:pt>
                <c:pt idx="1">
                  <c:v>Run 2</c:v>
                </c:pt>
                <c:pt idx="2">
                  <c:v>Run 3</c:v>
                </c:pt>
              </c:strCache>
            </c:strRef>
          </c:cat>
          <c:val>
            <c:numRef>
              <c:f>'Chart Data'!$D$2:$D$4</c:f>
              <c:numCache>
                <c:formatCode>0.00"%"</c:formatCode>
                <c:ptCount val="3"/>
                <c:pt idx="0">
                  <c:v>0.01</c:v>
                </c:pt>
                <c:pt idx="1">
                  <c:v>0.01</c:v>
                </c:pt>
                <c:pt idx="2">
                  <c:v>0.01</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sz="1650" b="1">
                  <a:solidFill>
                    <a:srgbClr val="142330"/>
                  </a:solidFill>
                  <a:latin typeface="Fira Sans"/>
                  <a:ea typeface="Fira Sans"/>
                  <a:cs typeface="Fira Sans"/>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52616B"/>
            </a:solidFill>
          </a:ln>
        </c:spPr>
        <c:txPr>
          <a:bodyPr xmlns:a="http://schemas.openxmlformats.org/drawingml/2006/main" anchorCtr="1"/>
          <a:lstStyle xmlns:a="http://schemas.openxmlformats.org/drawingml/2006/main"/>
          <a:p xmlns:a="http://schemas.openxmlformats.org/drawingml/2006/main">
            <a:pPr>
              <a:defRPr sz="1500">
                <a:solidFill>
                  <a:srgbClr val="52616B"/>
                </a:solidFill>
                <a:latin typeface="Fira Sans"/>
                <a:ea typeface="Fira Sans"/>
                <a:cs typeface="Fira Sans"/>
              </a:defRPr>
            </a:pPr>
          </a:p>
        </c:txPr>
        <c:crossAx val="48672768"/>
      </c:catAx>
      <c:valAx>
        <c:axId val="48672768"/>
        <c:scaling>
          <c:orientation val="minMax"/>
          <c:max val="4.5"/>
          <c:min val="0"/>
        </c:scaling>
        <c:delete val="0"/>
        <c:axPos val="l"/>
        <c:majorGridlines>
          <c:spPr>
            <a:ln xmlns:a="http://schemas.openxmlformats.org/drawingml/2006/main" w="5715">
              <a:solidFill>
                <a:srgbClr val="CCD3D4"/>
              </a:solidFill>
            </a:ln>
          </c:spPr>
        </c:majorGridlines>
        <c:numFmt formatCode="0.0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2616B"/>
                </a:solidFill>
                <a:latin typeface="Fira Sans"/>
                <a:ea typeface="Fira Sans"/>
                <a:cs typeface="Fira Sans"/>
              </a:defRPr>
            </a:pPr>
          </a:p>
        </c:txPr>
        <c:crossAx val="48650112"/>
        <c:crossBetween val="between"/>
        <c:majorUnit val="1"/>
      </c:valAx>
      <c:spPr>
        <a:solidFill xmlns:a="http://schemas.openxmlformats.org/drawingml/2006/main">
          <a:srgbClr val="F5F3ED"/>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2616B"/>
              </a:solidFill>
              <a:latin typeface="Fira Sans"/>
              <a:ea typeface="Fira Sans"/>
              <a:cs typeface="Fira Sans"/>
            </a:defRPr>
          </a:pPr>
        </a:p>
      </c:txPr>
    </c:legend>
    <c:plotVisOnly val="1"/>
  </c:chart>
  <c:spPr>
    <a:solidFill xmlns:a="http://schemas.openxmlformats.org/drawingml/2006/main">
      <a:srgbClr val="F5F3ED"/>
    </a:solidFill>
  </c:spPr>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Group G report, title and abstract. North Carolina State University. Authors: Abbott Sherwin, Manas Thumma, Mithoon Sabap, Siddarth Banakar.</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h335bd839cf77e6f5_0_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 name="Google Shape;48;h335bd839cf77e6f5_0_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Source: updated report Section 1.1, Challenges 1–5; Section 1.2 reviews 17 baselines. All five challenges now have analysis. Challenge 4 compares Baselines 8 and 7. A slower read may reflect page placement, cache conflicts, or address translation, rather than cache capacity alone. Baseline 7 compares ordinary 4 KiB pages, contiguous memory with 4 KiB translations, and large 2 MiB pages. Contiguous placement reduced L2 refills from 0.1066 to 0.0001 per read while translation refills stayed near 0.75. Large pages reduced translation refills to almost zero. Verify the page setup and compare latency plus cache and translation counters. These reported results do not establish the same cause for Baseline 8; raw files and exact physical addresses were unavailable. Inclusion examples: Baseline 5 uses a second core and decoy set. The report describes most hosts with &gt;98% misses versus a 0% baseline; Artemisia non-inclusive. Associativity claims are specific to reviewed examples.</a:t>
            </a:r>
            <a:endParaRPr/>
          </a:p>
        </p:txBody>
      </p:sp>
      <p:sp>
        <p:nvSpPr>
          <p:cNvPr id="49" name="Google Shape;49;h335bd839cf77e6f5_0_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report H1-H3. Hill 1988: report finds direct-mapped prediction contradicted by measured set-associative caches, while acknowledging paper is conditional. Report L1 hit latency roughly 2.64 ± 0.76 ns. McKee 2004: sequential versus random tests support application dependence; sustained bandwidth not measured. Jouppi 1990: HW1 motivates caution about transferring stream-buffer benefits to unpredictable accesses, not direct replication.</a:t>
            </a:r>
            <a:endParaRPr/>
          </a:p>
        </p:txBody>
      </p:sp>
      <p:sp>
        <p:nvSpPr>
          <p:cNvPr id="80" name="Google Shape;8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report Task 1.3. Fixed one core, 64-byte lines, 16 ways, 64 sampled sets, 16,384 predictor entries. Policy metadata = 3 × capacity bytes / 512 + 8,192 bytes. Total metadata 20/56/200 KiB at 2/8/32 MiB. Shares 0.977/0.684/0.610%. Asymptote 0.586%. Includes RRIP bits, excludes tags/data/logic. No direct policy comparison or performance experiment.</a:t>
            </a:r>
            <a:endParaRPr/>
          </a:p>
        </p:txBody>
      </p:sp>
      <p:sp>
        <p:nvSpPr>
          <p:cNvPr id="104" name="Google Shape;10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report attack reproduction subsections. Prime+Probe: same-process L1 simulated victim, pinned CPU0, 20,000 calibration readings, 100,000 main trials and two 100,000-trial controls. Flush+Reload: about 100 calibration accesses and 20,000 randomized trials. Flush+Flush: 10,000 training samples, usually 10,000 test samples, elevation single rerun 50,000. Single and attacker/victim pthread variants. Setups and host coverage differ.</a:t>
            </a:r>
            <a:endParaRPr/>
          </a:p>
        </p:txBody>
      </p:sp>
      <p:sp>
        <p:nvSpPr>
          <p:cNvPr id="122" name="Google Shape;12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report Prime+Probe main accuracy and MI tables. Main-test N=100,000 per host. Accuracy: Sunbird99.620, Charnwood99.929, Ookay98.178, Upgrade99.511, Crux94.066, Artemisia99.927, Skylark51.842. Chart rounded to one decimal. Skylark MI 0.001098 bits/trial. Thunderbird unsupported by x86 implementation; Greenforest/Elevation not part of run. Same-process L1 test, not a cryptographic key extraction.</a:t>
            </a:r>
            <a:endParaRPr/>
          </a:p>
        </p:txBody>
      </p:sp>
      <p:sp>
        <p:nvSpPr>
          <p:cNvPr id="133" name="Google Shape;13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report Flush+Reload table. N=20,000 each. Accuracy Sunbird78.32, Charnwood76.85, Ookay76.71, Upgrade75.10, Crux81.06, Artemisia76.53, Greenforest99.98, Elevation81.83. Greenforest miss153.51 ticks, hit22.21 ticks, FP0/FN5. Other hosts often had asymmetric FP/FN. Timings in TSC ticks, not CPU cycles.</a:t>
            </a:r>
            <a:endParaRPr/>
          </a:p>
        </p:txBody>
      </p:sp>
      <p:sp>
        <p:nvSpPr>
          <p:cNvPr id="148" name="Google Shape;148;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Flush+Flush tables and Discussion. Before/after selected runs: Elevation single50/100; Greenforest single50/63.2; Greenforest attacker/victim threads45.6/80.7. +10,000 warm-up samples on initial1,000. Cold timing roughly5–6x high. Elevation also increased test count to50,000, so this is not a strictly one-variable comparison. Single final range63.2–100, threads48.4–80.7.</a:t>
            </a:r>
            <a:endParaRPr/>
          </a:p>
        </p:txBody>
      </p:sp>
      <p:sp>
        <p:nvSpPr>
          <p:cNvPr id="163" name="Google Shape;163;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report earlier Prime+Probe defense comparison/cost paragraph and shared replacement-state paragraph. No defense implemented/measured. CEASER changes mappings and requires remap before useful conflicts learned; does not directly stop shared-line Flush+Reload. ScatterCache domain/way mappings; separate read-only copies help, shared writes and flush permissions need handling. Costs include mapping logic, per-line metadata, domain handling, and remapping. LLC-only defense cannot directly stop L1 test.</a:t>
            </a:r>
            <a:endParaRPr/>
          </a:p>
        </p:txBody>
      </p:sp>
      <p:sp>
        <p:nvSpPr>
          <p:cNvPr id="179" name="Google Shape;17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report Section3 detection test and conclusion.64 entries full64-bit pointers to random cache lines across1024 pages (4MB pool). All targets flushed. First32 entries read sequentially as integers, no dereference. Wait1000 loop iterations. Probe a target referenced by second half. Garbage control changes only probed array entry to nonpointer.20,000 trials/condition; three reported runs per host; pinned core, P-core on hybrids.</a:t>
            </a:r>
            <a:endParaRPr/>
          </a:p>
        </p:txBody>
      </p:sp>
      <p:sp>
        <p:nvSpPr>
          <p:cNvPr id="192" name="Google Shape;19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report Section3 raw table. Greenforest i7-14700 Raptor Lake overall pointer rates3.68/2.21/3.23%, garbage0.01% each.20,000 trials per condition. Peak d1 pointer50.00/26.12/40.30%; garbage0.15/0/0.15%. Other hosts Artemisia,Elevation,Crux,Upgrade,Ookay,Charnwood,Sunbird: not observed under tested conditions. Artemisia run3 elevated signal did not repeat. Nonobservation does not prove absence. Does not uniquely identify a prefetcher or exclude other content-dependent mechanisms.</a:t>
            </a:r>
            <a:endParaRPr/>
          </a:p>
        </p:txBody>
      </p:sp>
      <p:sp>
        <p:nvSpPr>
          <p:cNvPr id="221" name="Google Shape;22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report conclusion and limitations. Measurements establish strong but machine-dependent controlled side channels and Greenforest content-dependent cache activity. Warm-up and control conditions crucial. SHiP++ storage is a model; defense comparison from papers. DMP evidence limited to one pattern; mechanism unidentified. No claim of secure machines, real key recovery, measured defense effectiveness or SHiP++ speedup.</a:t>
            </a:r>
            <a:endParaRPr/>
          </a:p>
        </p:txBody>
      </p:sp>
      <p:sp>
        <p:nvSpPr>
          <p:cNvPr id="238" name="Google Shape;238;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5"/>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Fira Sans"/>
              <a:buNone/>
              <a:defRPr b="0" i="0" sz="4400" u="none" cap="none" strike="noStrike">
                <a:solidFill>
                  <a:schemeClr val="dk1"/>
                </a:solidFill>
                <a:latin typeface="Fira Sans"/>
                <a:ea typeface="Fira Sans"/>
                <a:cs typeface="Fira Sans"/>
                <a:sym typeface="Fira Sans"/>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3" name="Google Shape;13;p15"/>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1pPr>
            <a:lvl2pPr lvl="1" marR="0" rtl="0" algn="l">
              <a:lnSpc>
                <a:spcPct val="110000"/>
              </a:lnSpc>
              <a:spcBef>
                <a:spcPts val="0"/>
              </a:spcBef>
              <a:spcAft>
                <a:spcPts val="0"/>
              </a:spcAft>
              <a:buClr>
                <a:schemeClr val="dk1"/>
              </a:buClr>
              <a:buSzPts val="2400"/>
              <a:buFont typeface="Fira Sans"/>
              <a:buNone/>
              <a:defRPr b="0" i="0" sz="2400" u="none" cap="none" strike="noStrike">
                <a:solidFill>
                  <a:schemeClr val="dk1"/>
                </a:solidFill>
                <a:latin typeface="Fira Sans"/>
                <a:ea typeface="Fira Sans"/>
                <a:cs typeface="Fira Sans"/>
                <a:sym typeface="Fira Sans"/>
              </a:defRPr>
            </a:lvl2pPr>
            <a:lvl3pPr lvl="2" marR="0" rtl="0" algn="l">
              <a:lnSpc>
                <a:spcPct val="110000"/>
              </a:lnSpc>
              <a:spcBef>
                <a:spcPts val="0"/>
              </a:spcBef>
              <a:spcAft>
                <a:spcPts val="0"/>
              </a:spcAft>
              <a:buClr>
                <a:schemeClr val="dk1"/>
              </a:buClr>
              <a:buSzPts val="2000"/>
              <a:buFont typeface="Fira Sans"/>
              <a:buNone/>
              <a:defRPr b="0" i="0" sz="2000" u="none" cap="none" strike="noStrike">
                <a:solidFill>
                  <a:schemeClr val="dk1"/>
                </a:solidFill>
                <a:latin typeface="Fira Sans"/>
                <a:ea typeface="Fira Sans"/>
                <a:cs typeface="Fira Sans"/>
                <a:sym typeface="Fira Sans"/>
              </a:defRPr>
            </a:lvl3pPr>
            <a:lvl4pPr lvl="3" marR="0" rtl="0" algn="l">
              <a:lnSpc>
                <a:spcPct val="110000"/>
              </a:lnSpc>
              <a:spcBef>
                <a:spcPts val="0"/>
              </a:spcBef>
              <a:spcAft>
                <a:spcPts val="0"/>
              </a:spcAft>
              <a:buClr>
                <a:schemeClr val="dk1"/>
              </a:buClr>
              <a:buSzPts val="1800"/>
              <a:buFont typeface="Fira Sans"/>
              <a:buNone/>
              <a:defRPr b="0" i="0" sz="1800" u="none" cap="none" strike="noStrike">
                <a:solidFill>
                  <a:schemeClr val="dk1"/>
                </a:solidFill>
                <a:latin typeface="Fira Sans"/>
                <a:ea typeface="Fira Sans"/>
                <a:cs typeface="Fira Sans"/>
                <a:sym typeface="Fira Sans"/>
              </a:defRPr>
            </a:lvl4pPr>
            <a:lvl5pPr lvl="4" marR="0" rtl="0" algn="l">
              <a:lnSpc>
                <a:spcPct val="110000"/>
              </a:lnSpc>
              <a:spcBef>
                <a:spcPts val="0"/>
              </a:spcBef>
              <a:spcAft>
                <a:spcPts val="0"/>
              </a:spcAft>
              <a:buClr>
                <a:schemeClr val="dk1"/>
              </a:buClr>
              <a:buSzPts val="1800"/>
              <a:buFont typeface="Fira Sans"/>
              <a:buNone/>
              <a:defRPr b="0" i="0" sz="1800" u="none" cap="none" strike="noStrike">
                <a:solidFill>
                  <a:schemeClr val="dk1"/>
                </a:solidFill>
                <a:latin typeface="Fira Sans"/>
                <a:ea typeface="Fira Sans"/>
                <a:cs typeface="Fira Sans"/>
                <a:sym typeface="Fira Sans"/>
              </a:defRPr>
            </a:lvl5pPr>
            <a:lvl6pPr lvl="5" marR="0" rtl="0" algn="l">
              <a:lnSpc>
                <a:spcPct val="110000"/>
              </a:lnSpc>
              <a:spcBef>
                <a:spcPts val="0"/>
              </a:spcBef>
              <a:spcAft>
                <a:spcPts val="0"/>
              </a:spcAft>
              <a:buClr>
                <a:schemeClr val="dk1"/>
              </a:buClr>
              <a:buSzPts val="1800"/>
              <a:buFont typeface="Fira Sans"/>
              <a:buNone/>
              <a:defRPr b="0" i="0" sz="1800" u="none" cap="none" strike="noStrike">
                <a:solidFill>
                  <a:schemeClr val="dk1"/>
                </a:solidFill>
                <a:latin typeface="Fira Sans"/>
                <a:ea typeface="Fira Sans"/>
                <a:cs typeface="Fira Sans"/>
                <a:sym typeface="Fira Sans"/>
              </a:defRPr>
            </a:lvl6pPr>
            <a:lvl7pPr lvl="6" marR="0" rtl="0" algn="l">
              <a:lnSpc>
                <a:spcPct val="110000"/>
              </a:lnSpc>
              <a:spcBef>
                <a:spcPts val="0"/>
              </a:spcBef>
              <a:spcAft>
                <a:spcPts val="0"/>
              </a:spcAft>
              <a:buClr>
                <a:schemeClr val="dk1"/>
              </a:buClr>
              <a:buSzPts val="1800"/>
              <a:buFont typeface="Fira Sans"/>
              <a:buNone/>
              <a:defRPr b="0" i="0" sz="1800" u="none" cap="none" strike="noStrike">
                <a:solidFill>
                  <a:schemeClr val="dk1"/>
                </a:solidFill>
                <a:latin typeface="Fira Sans"/>
                <a:ea typeface="Fira Sans"/>
                <a:cs typeface="Fira Sans"/>
                <a:sym typeface="Fira Sans"/>
              </a:defRPr>
            </a:lvl7pPr>
            <a:lvl8pPr lvl="7" marR="0" rtl="0" algn="l">
              <a:lnSpc>
                <a:spcPct val="110000"/>
              </a:lnSpc>
              <a:spcBef>
                <a:spcPts val="0"/>
              </a:spcBef>
              <a:spcAft>
                <a:spcPts val="0"/>
              </a:spcAft>
              <a:buClr>
                <a:schemeClr val="dk1"/>
              </a:buClr>
              <a:buSzPts val="1800"/>
              <a:buFont typeface="Fira Sans"/>
              <a:buNone/>
              <a:defRPr b="0" i="0" sz="1800" u="none" cap="none" strike="noStrike">
                <a:solidFill>
                  <a:schemeClr val="dk1"/>
                </a:solidFill>
                <a:latin typeface="Fira Sans"/>
                <a:ea typeface="Fira Sans"/>
                <a:cs typeface="Fira Sans"/>
                <a:sym typeface="Fira Sans"/>
              </a:defRPr>
            </a:lvl8pPr>
            <a:lvl9pPr lvl="8" marR="0" rtl="0" algn="l">
              <a:lnSpc>
                <a:spcPct val="110000"/>
              </a:lnSpc>
              <a:spcBef>
                <a:spcPts val="0"/>
              </a:spcBef>
              <a:spcAft>
                <a:spcPts val="0"/>
              </a:spcAft>
              <a:buClr>
                <a:schemeClr val="dk1"/>
              </a:buClr>
              <a:buSzPts val="1800"/>
              <a:buFont typeface="Fira Sans"/>
              <a:buNone/>
              <a:defRPr b="0" i="0" sz="1800" u="none" cap="none" strike="noStrike">
                <a:solidFill>
                  <a:schemeClr val="dk1"/>
                </a:solidFill>
                <a:latin typeface="Fira Sans"/>
                <a:ea typeface="Fira Sans"/>
                <a:cs typeface="Fira Sans"/>
                <a:sym typeface="Fira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16"/>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Fira Sans"/>
              <a:buNone/>
              <a:defRPr b="0" i="0" sz="4400" u="none" cap="none" strike="noStrike">
                <a:solidFill>
                  <a:schemeClr val="dk1"/>
                </a:solidFill>
                <a:latin typeface="Fira Sans"/>
                <a:ea typeface="Fira Sans"/>
                <a:cs typeface="Fira Sans"/>
                <a:sym typeface="Fira Sans"/>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1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Fira Sans"/>
              <a:buNone/>
              <a:defRPr b="0" i="0" sz="4400" u="none" cap="none" strike="noStrike">
                <a:solidFill>
                  <a:schemeClr val="dk1"/>
                </a:solidFill>
                <a:latin typeface="Fira Sans"/>
                <a:ea typeface="Fira Sans"/>
                <a:cs typeface="Fira Sans"/>
                <a:sym typeface="Fira Sans"/>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8" name="Google Shape;18;p17"/>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Fira Sans"/>
              <a:buChar char="•"/>
              <a:defRPr b="0" i="0" sz="2800" u="none" cap="none" strike="noStrike">
                <a:solidFill>
                  <a:schemeClr val="dk1"/>
                </a:solidFill>
                <a:latin typeface="Fira Sans"/>
                <a:ea typeface="Fira Sans"/>
                <a:cs typeface="Fira Sans"/>
                <a:sym typeface="Fira Sans"/>
              </a:defRPr>
            </a:lvl1pPr>
            <a:lvl2pPr indent="-381000" lvl="1" marL="914400" marR="0" rtl="0" algn="l">
              <a:lnSpc>
                <a:spcPct val="110000"/>
              </a:lnSpc>
              <a:spcBef>
                <a:spcPts val="1200"/>
              </a:spcBef>
              <a:spcAft>
                <a:spcPts val="0"/>
              </a:spcAft>
              <a:buClr>
                <a:schemeClr val="dk1"/>
              </a:buClr>
              <a:buSzPts val="2400"/>
              <a:buFont typeface="Fira Sans"/>
              <a:buChar char="•"/>
              <a:defRPr b="0" i="0" sz="2400" u="none" cap="none" strike="noStrike">
                <a:solidFill>
                  <a:schemeClr val="dk1"/>
                </a:solidFill>
                <a:latin typeface="Fira Sans"/>
                <a:ea typeface="Fira Sans"/>
                <a:cs typeface="Fira Sans"/>
                <a:sym typeface="Fira Sans"/>
              </a:defRPr>
            </a:lvl2pPr>
            <a:lvl3pPr indent="-355600" lvl="2" marL="1371600" marR="0" rtl="0" algn="l">
              <a:lnSpc>
                <a:spcPct val="110000"/>
              </a:lnSpc>
              <a:spcBef>
                <a:spcPts val="1200"/>
              </a:spcBef>
              <a:spcAft>
                <a:spcPts val="0"/>
              </a:spcAft>
              <a:buClr>
                <a:schemeClr val="dk1"/>
              </a:buClr>
              <a:buSzPts val="2000"/>
              <a:buFont typeface="Fira Sans"/>
              <a:buChar char="•"/>
              <a:defRPr b="0" i="0" sz="2000" u="none" cap="none" strike="noStrike">
                <a:solidFill>
                  <a:schemeClr val="dk1"/>
                </a:solidFill>
                <a:latin typeface="Fira Sans"/>
                <a:ea typeface="Fira Sans"/>
                <a:cs typeface="Fira Sans"/>
                <a:sym typeface="Fira Sans"/>
              </a:defRPr>
            </a:lvl3pPr>
            <a:lvl4pPr indent="-342900" lvl="3" marL="18288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4pPr>
            <a:lvl5pPr indent="-342900" lvl="4" marL="22860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5pPr>
            <a:lvl6pPr indent="-342900" lvl="5" marL="27432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6pPr>
            <a:lvl7pPr indent="-342900" lvl="6" marL="32004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7pPr>
            <a:lvl8pPr indent="-342900" lvl="7" marL="36576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8pPr>
            <a:lvl9pPr indent="-342900" lvl="8" marL="4114800" marR="0" rtl="0" algn="l">
              <a:lnSpc>
                <a:spcPct val="110000"/>
              </a:lnSpc>
              <a:spcBef>
                <a:spcPts val="1200"/>
              </a:spcBef>
              <a:spcAft>
                <a:spcPts val="120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18"/>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Fira Sans"/>
              <a:buNone/>
              <a:defRPr b="0" i="0" sz="4400" u="none" cap="none" strike="noStrike">
                <a:solidFill>
                  <a:schemeClr val="dk1"/>
                </a:solidFill>
                <a:latin typeface="Fira Sans"/>
                <a:ea typeface="Fira Sans"/>
                <a:cs typeface="Fira Sans"/>
                <a:sym typeface="Fira Sans"/>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1" name="Google Shape;21;p18"/>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Fira Sans"/>
              <a:buChar char="•"/>
              <a:defRPr b="0" i="0" sz="2800" u="none" cap="none" strike="noStrike">
                <a:solidFill>
                  <a:schemeClr val="dk1"/>
                </a:solidFill>
                <a:latin typeface="Fira Sans"/>
                <a:ea typeface="Fira Sans"/>
                <a:cs typeface="Fira Sans"/>
                <a:sym typeface="Fira Sans"/>
              </a:defRPr>
            </a:lvl1pPr>
            <a:lvl2pPr indent="-381000" lvl="1" marL="914400" marR="0" rtl="0" algn="l">
              <a:lnSpc>
                <a:spcPct val="110000"/>
              </a:lnSpc>
              <a:spcBef>
                <a:spcPts val="1200"/>
              </a:spcBef>
              <a:spcAft>
                <a:spcPts val="0"/>
              </a:spcAft>
              <a:buClr>
                <a:schemeClr val="dk1"/>
              </a:buClr>
              <a:buSzPts val="2400"/>
              <a:buFont typeface="Fira Sans"/>
              <a:buChar char="•"/>
              <a:defRPr b="0" i="0" sz="2400" u="none" cap="none" strike="noStrike">
                <a:solidFill>
                  <a:schemeClr val="dk1"/>
                </a:solidFill>
                <a:latin typeface="Fira Sans"/>
                <a:ea typeface="Fira Sans"/>
                <a:cs typeface="Fira Sans"/>
                <a:sym typeface="Fira Sans"/>
              </a:defRPr>
            </a:lvl2pPr>
            <a:lvl3pPr indent="-355600" lvl="2" marL="1371600" marR="0" rtl="0" algn="l">
              <a:lnSpc>
                <a:spcPct val="110000"/>
              </a:lnSpc>
              <a:spcBef>
                <a:spcPts val="1200"/>
              </a:spcBef>
              <a:spcAft>
                <a:spcPts val="0"/>
              </a:spcAft>
              <a:buClr>
                <a:schemeClr val="dk1"/>
              </a:buClr>
              <a:buSzPts val="2000"/>
              <a:buFont typeface="Fira Sans"/>
              <a:buChar char="•"/>
              <a:defRPr b="0" i="0" sz="2000" u="none" cap="none" strike="noStrike">
                <a:solidFill>
                  <a:schemeClr val="dk1"/>
                </a:solidFill>
                <a:latin typeface="Fira Sans"/>
                <a:ea typeface="Fira Sans"/>
                <a:cs typeface="Fira Sans"/>
                <a:sym typeface="Fira Sans"/>
              </a:defRPr>
            </a:lvl3pPr>
            <a:lvl4pPr indent="-342900" lvl="3" marL="18288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4pPr>
            <a:lvl5pPr indent="-342900" lvl="4" marL="22860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5pPr>
            <a:lvl6pPr indent="-342900" lvl="5" marL="27432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6pPr>
            <a:lvl7pPr indent="-342900" lvl="6" marL="32004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7pPr>
            <a:lvl8pPr indent="-342900" lvl="7" marL="36576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8pPr>
            <a:lvl9pPr indent="-342900" lvl="8" marL="4114800" marR="0" rtl="0" algn="l">
              <a:lnSpc>
                <a:spcPct val="110000"/>
              </a:lnSpc>
              <a:spcBef>
                <a:spcPts val="1200"/>
              </a:spcBef>
              <a:spcAft>
                <a:spcPts val="120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9pPr>
          </a:lstStyle>
          <a:p/>
        </p:txBody>
      </p:sp>
      <p:sp>
        <p:nvSpPr>
          <p:cNvPr id="22" name="Google Shape;22;p18"/>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Fira Sans"/>
              <a:buChar char="•"/>
              <a:defRPr b="0" i="0" sz="2800" u="none" cap="none" strike="noStrike">
                <a:solidFill>
                  <a:schemeClr val="dk1"/>
                </a:solidFill>
                <a:latin typeface="Fira Sans"/>
                <a:ea typeface="Fira Sans"/>
                <a:cs typeface="Fira Sans"/>
                <a:sym typeface="Fira Sans"/>
              </a:defRPr>
            </a:lvl1pPr>
            <a:lvl2pPr indent="-381000" lvl="1" marL="914400" marR="0" rtl="0" algn="l">
              <a:lnSpc>
                <a:spcPct val="110000"/>
              </a:lnSpc>
              <a:spcBef>
                <a:spcPts val="1200"/>
              </a:spcBef>
              <a:spcAft>
                <a:spcPts val="0"/>
              </a:spcAft>
              <a:buClr>
                <a:schemeClr val="dk1"/>
              </a:buClr>
              <a:buSzPts val="2400"/>
              <a:buFont typeface="Fira Sans"/>
              <a:buChar char="•"/>
              <a:defRPr b="0" i="0" sz="2400" u="none" cap="none" strike="noStrike">
                <a:solidFill>
                  <a:schemeClr val="dk1"/>
                </a:solidFill>
                <a:latin typeface="Fira Sans"/>
                <a:ea typeface="Fira Sans"/>
                <a:cs typeface="Fira Sans"/>
                <a:sym typeface="Fira Sans"/>
              </a:defRPr>
            </a:lvl2pPr>
            <a:lvl3pPr indent="-355600" lvl="2" marL="1371600" marR="0" rtl="0" algn="l">
              <a:lnSpc>
                <a:spcPct val="110000"/>
              </a:lnSpc>
              <a:spcBef>
                <a:spcPts val="1200"/>
              </a:spcBef>
              <a:spcAft>
                <a:spcPts val="0"/>
              </a:spcAft>
              <a:buClr>
                <a:schemeClr val="dk1"/>
              </a:buClr>
              <a:buSzPts val="2000"/>
              <a:buFont typeface="Fira Sans"/>
              <a:buChar char="•"/>
              <a:defRPr b="0" i="0" sz="2000" u="none" cap="none" strike="noStrike">
                <a:solidFill>
                  <a:schemeClr val="dk1"/>
                </a:solidFill>
                <a:latin typeface="Fira Sans"/>
                <a:ea typeface="Fira Sans"/>
                <a:cs typeface="Fira Sans"/>
                <a:sym typeface="Fira Sans"/>
              </a:defRPr>
            </a:lvl3pPr>
            <a:lvl4pPr indent="-342900" lvl="3" marL="18288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4pPr>
            <a:lvl5pPr indent="-342900" lvl="4" marL="22860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5pPr>
            <a:lvl6pPr indent="-342900" lvl="5" marL="27432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6pPr>
            <a:lvl7pPr indent="-342900" lvl="6" marL="32004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7pPr>
            <a:lvl8pPr indent="-342900" lvl="7" marL="36576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8pPr>
            <a:lvl9pPr indent="-342900" lvl="8" marL="4114800" marR="0" rtl="0" algn="l">
              <a:lnSpc>
                <a:spcPct val="110000"/>
              </a:lnSpc>
              <a:spcBef>
                <a:spcPts val="1200"/>
              </a:spcBef>
              <a:spcAft>
                <a:spcPts val="120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19"/>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Fira Sans"/>
              <a:buNone/>
              <a:defRPr b="0" i="0" sz="4400" u="none" cap="none" strike="noStrike">
                <a:solidFill>
                  <a:schemeClr val="dk1"/>
                </a:solidFill>
                <a:latin typeface="Fira Sans"/>
                <a:ea typeface="Fira Sans"/>
                <a:cs typeface="Fira Sans"/>
                <a:sym typeface="Fira Sans"/>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5" name="Google Shape;25;p19"/>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Fira Sans"/>
              <a:buChar char="•"/>
              <a:defRPr b="0" i="0" sz="2800" u="none" cap="none" strike="noStrike">
                <a:solidFill>
                  <a:schemeClr val="dk1"/>
                </a:solidFill>
                <a:latin typeface="Fira Sans"/>
                <a:ea typeface="Fira Sans"/>
                <a:cs typeface="Fira Sans"/>
                <a:sym typeface="Fira Sans"/>
              </a:defRPr>
            </a:lvl1pPr>
            <a:lvl2pPr indent="-381000" lvl="1" marL="914400" marR="0" rtl="0" algn="l">
              <a:lnSpc>
                <a:spcPct val="110000"/>
              </a:lnSpc>
              <a:spcBef>
                <a:spcPts val="1200"/>
              </a:spcBef>
              <a:spcAft>
                <a:spcPts val="0"/>
              </a:spcAft>
              <a:buClr>
                <a:schemeClr val="dk1"/>
              </a:buClr>
              <a:buSzPts val="2400"/>
              <a:buFont typeface="Fira Sans"/>
              <a:buChar char="•"/>
              <a:defRPr b="0" i="0" sz="2400" u="none" cap="none" strike="noStrike">
                <a:solidFill>
                  <a:schemeClr val="dk1"/>
                </a:solidFill>
                <a:latin typeface="Fira Sans"/>
                <a:ea typeface="Fira Sans"/>
                <a:cs typeface="Fira Sans"/>
                <a:sym typeface="Fira Sans"/>
              </a:defRPr>
            </a:lvl2pPr>
            <a:lvl3pPr indent="-355600" lvl="2" marL="1371600" marR="0" rtl="0" algn="l">
              <a:lnSpc>
                <a:spcPct val="110000"/>
              </a:lnSpc>
              <a:spcBef>
                <a:spcPts val="1200"/>
              </a:spcBef>
              <a:spcAft>
                <a:spcPts val="0"/>
              </a:spcAft>
              <a:buClr>
                <a:schemeClr val="dk1"/>
              </a:buClr>
              <a:buSzPts val="2000"/>
              <a:buFont typeface="Fira Sans"/>
              <a:buChar char="•"/>
              <a:defRPr b="0" i="0" sz="2000" u="none" cap="none" strike="noStrike">
                <a:solidFill>
                  <a:schemeClr val="dk1"/>
                </a:solidFill>
                <a:latin typeface="Fira Sans"/>
                <a:ea typeface="Fira Sans"/>
                <a:cs typeface="Fira Sans"/>
                <a:sym typeface="Fira Sans"/>
              </a:defRPr>
            </a:lvl3pPr>
            <a:lvl4pPr indent="-342900" lvl="3" marL="18288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4pPr>
            <a:lvl5pPr indent="-342900" lvl="4" marL="22860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5pPr>
            <a:lvl6pPr indent="-342900" lvl="5" marL="27432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6pPr>
            <a:lvl7pPr indent="-342900" lvl="6" marL="32004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7pPr>
            <a:lvl8pPr indent="-342900" lvl="7" marL="3657600" marR="0" rtl="0" algn="l">
              <a:lnSpc>
                <a:spcPct val="110000"/>
              </a:lnSpc>
              <a:spcBef>
                <a:spcPts val="1200"/>
              </a:spcBef>
              <a:spcAft>
                <a:spcPts val="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8pPr>
            <a:lvl9pPr indent="-342900" lvl="8" marL="4114800" marR="0" rtl="0" algn="l">
              <a:lnSpc>
                <a:spcPct val="110000"/>
              </a:lnSpc>
              <a:spcBef>
                <a:spcPts val="1200"/>
              </a:spcBef>
              <a:spcAft>
                <a:spcPts val="1200"/>
              </a:spcAft>
              <a:buClr>
                <a:schemeClr val="dk1"/>
              </a:buClr>
              <a:buSzPts val="1800"/>
              <a:buFont typeface="Fira Sans"/>
              <a:buChar char="•"/>
              <a:defRPr b="0" i="0" sz="1800" u="none" cap="none" strike="noStrike">
                <a:solidFill>
                  <a:schemeClr val="dk1"/>
                </a:solidFill>
                <a:latin typeface="Fira Sans"/>
                <a:ea typeface="Fira Sans"/>
                <a:cs typeface="Fira Sans"/>
                <a:sym typeface="Fira Sans"/>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2C"/>
        </a:solidFill>
      </p:bgPr>
    </p:bg>
    <p:spTree>
      <p:nvGrpSpPr>
        <p:cNvPr id="30" name="Shape 30"/>
        <p:cNvGrpSpPr/>
        <p:nvPr/>
      </p:nvGrpSpPr>
      <p:grpSpPr>
        <a:xfrm>
          <a:off x="0" y="0"/>
          <a:ext cx="0" cy="0"/>
          <a:chOff x="0" y="0"/>
          <a:chExt cx="0" cy="0"/>
        </a:xfrm>
      </p:grpSpPr>
      <p:sp>
        <p:nvSpPr>
          <p:cNvPr id="31" name="Google Shape;31;p1"/>
          <p:cNvSpPr/>
          <p:nvPr/>
        </p:nvSpPr>
        <p:spPr>
          <a:xfrm>
            <a:off x="590550" y="304800"/>
            <a:ext cx="100012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8DE1C9"/>
                </a:solidFill>
                <a:latin typeface="Fira Sans"/>
                <a:ea typeface="Fira Sans"/>
                <a:cs typeface="Fira Sans"/>
                <a:sym typeface="Fira Sans"/>
              </a:rPr>
              <a:t>MICROARCHITECTURE / ECE 592 HOMEWORK 2</a:t>
            </a:r>
            <a:endParaRPr/>
          </a:p>
        </p:txBody>
      </p:sp>
      <p:sp>
        <p:nvSpPr>
          <p:cNvPr id="32" name="Google Shape;32;p1"/>
          <p:cNvSpPr/>
          <p:nvPr/>
        </p:nvSpPr>
        <p:spPr>
          <a:xfrm>
            <a:off x="571500" y="8001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33" name="Google Shape;33;p1"/>
          <p:cNvSpPr/>
          <p:nvPr/>
        </p:nvSpPr>
        <p:spPr>
          <a:xfrm>
            <a:off x="590550" y="6429375"/>
            <a:ext cx="11010900" cy="9525"/>
          </a:xfrm>
          <a:prstGeom prst="rect">
            <a:avLst/>
          </a:prstGeom>
          <a:solidFill>
            <a:srgbClr val="3645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
          <p:cNvSpPr/>
          <p:nvPr/>
        </p:nvSpPr>
        <p:spPr>
          <a:xfrm>
            <a:off x="590550" y="6524625"/>
            <a:ext cx="6191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B3BFC6"/>
                </a:solidFill>
                <a:latin typeface="Fira Sans"/>
                <a:ea typeface="Fira Sans"/>
                <a:cs typeface="Fira Sans"/>
                <a:sym typeface="Fira Sans"/>
              </a:rPr>
              <a:t>ECE 592  /  GROUP G</a:t>
            </a:r>
            <a:endParaRPr/>
          </a:p>
        </p:txBody>
      </p:sp>
      <p:sp>
        <p:nvSpPr>
          <p:cNvPr id="35" name="Google Shape;35;p1"/>
          <p:cNvSpPr/>
          <p:nvPr/>
        </p:nvSpPr>
        <p:spPr>
          <a:xfrm>
            <a:off x="11115675" y="6505575"/>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B3BFC6"/>
                </a:solidFill>
                <a:latin typeface="Fira Sans"/>
                <a:ea typeface="Fira Sans"/>
                <a:cs typeface="Fira Sans"/>
                <a:sym typeface="Fira Sans"/>
              </a:rPr>
              <a:t>01</a:t>
            </a:r>
            <a:endParaRPr/>
          </a:p>
        </p:txBody>
      </p:sp>
      <p:sp>
        <p:nvSpPr>
          <p:cNvPr id="36" name="Google Shape;36;p1"/>
          <p:cNvSpPr/>
          <p:nvPr/>
        </p:nvSpPr>
        <p:spPr>
          <a:xfrm>
            <a:off x="571500" y="1428750"/>
            <a:ext cx="7905750" cy="2476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100">
                <a:solidFill>
                  <a:srgbClr val="F5F3ED"/>
                </a:solidFill>
                <a:latin typeface="Fira Sans"/>
                <a:ea typeface="Fira Sans"/>
                <a:cs typeface="Fira Sans"/>
                <a:sym typeface="Fira Sans"/>
              </a:rPr>
              <a:t>ECE 592  Homework 2 Cache Reverse Engineering</a:t>
            </a:r>
            <a:endParaRPr sz="100"/>
          </a:p>
        </p:txBody>
      </p:sp>
      <p:sp>
        <p:nvSpPr>
          <p:cNvPr id="37" name="Google Shape;37;p1"/>
          <p:cNvSpPr/>
          <p:nvPr/>
        </p:nvSpPr>
        <p:spPr>
          <a:xfrm>
            <a:off x="647700" y="4286250"/>
            <a:ext cx="9715500" cy="87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325">
                <a:solidFill>
                  <a:srgbClr val="BDCCD4"/>
                </a:solidFill>
                <a:latin typeface="Fira Sans"/>
                <a:ea typeface="Fira Sans"/>
                <a:cs typeface="Fira Sans"/>
                <a:sym typeface="Fira Sans"/>
              </a:rPr>
              <a:t>Measurement controls, side-channel attacks,</a:t>
            </a:r>
            <a:endParaRPr/>
          </a:p>
          <a:p>
            <a:pPr indent="0" lvl="0" marL="0" marR="0" rtl="0" algn="l">
              <a:spcBef>
                <a:spcPts val="0"/>
              </a:spcBef>
              <a:spcAft>
                <a:spcPts val="0"/>
              </a:spcAft>
              <a:buNone/>
            </a:pPr>
            <a:r>
              <a:rPr b="0" lang="en-US" sz="2325">
                <a:solidFill>
                  <a:srgbClr val="BDCCD4"/>
                </a:solidFill>
                <a:latin typeface="Fira Sans"/>
                <a:ea typeface="Fira Sans"/>
                <a:cs typeface="Fira Sans"/>
                <a:sym typeface="Fira Sans"/>
              </a:rPr>
              <a:t>and data-memory-dependent prefetching</a:t>
            </a:r>
            <a:endParaRPr/>
          </a:p>
        </p:txBody>
      </p:sp>
      <p:sp>
        <p:nvSpPr>
          <p:cNvPr id="38" name="Google Shape;38;p1"/>
          <p:cNvSpPr/>
          <p:nvPr/>
        </p:nvSpPr>
        <p:spPr>
          <a:xfrm>
            <a:off x="9048750" y="1752600"/>
            <a:ext cx="190500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500">
                <a:solidFill>
                  <a:srgbClr val="8DE1C9"/>
                </a:solidFill>
                <a:latin typeface="Fira Sans"/>
                <a:ea typeface="Fira Sans"/>
                <a:cs typeface="Fira Sans"/>
                <a:sym typeface="Fira Sans"/>
              </a:rPr>
              <a:t>01</a:t>
            </a:r>
            <a:endParaRPr/>
          </a:p>
        </p:txBody>
      </p:sp>
      <p:sp>
        <p:nvSpPr>
          <p:cNvPr id="39" name="Google Shape;39;p1"/>
          <p:cNvSpPr/>
          <p:nvPr/>
        </p:nvSpPr>
        <p:spPr>
          <a:xfrm>
            <a:off x="9953625" y="2047875"/>
            <a:ext cx="1714500" cy="428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F5F3ED"/>
                </a:solidFill>
                <a:latin typeface="Fira Sans"/>
                <a:ea typeface="Fira Sans"/>
                <a:cs typeface="Fira Sans"/>
                <a:sym typeface="Fira Sans"/>
              </a:rPr>
              <a:t>Measure</a:t>
            </a:r>
            <a:endParaRPr/>
          </a:p>
        </p:txBody>
      </p:sp>
      <p:sp>
        <p:nvSpPr>
          <p:cNvPr id="40" name="Google Shape;40;p1"/>
          <p:cNvSpPr/>
          <p:nvPr/>
        </p:nvSpPr>
        <p:spPr>
          <a:xfrm>
            <a:off x="9048750" y="2743200"/>
            <a:ext cx="190500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500">
                <a:solidFill>
                  <a:srgbClr val="8DE1C9"/>
                </a:solidFill>
                <a:latin typeface="Fira Sans"/>
                <a:ea typeface="Fira Sans"/>
                <a:cs typeface="Fira Sans"/>
                <a:sym typeface="Fira Sans"/>
              </a:rPr>
              <a:t>02</a:t>
            </a:r>
            <a:endParaRPr/>
          </a:p>
        </p:txBody>
      </p:sp>
      <p:sp>
        <p:nvSpPr>
          <p:cNvPr id="41" name="Google Shape;41;p1"/>
          <p:cNvSpPr/>
          <p:nvPr/>
        </p:nvSpPr>
        <p:spPr>
          <a:xfrm>
            <a:off x="9953625" y="3038475"/>
            <a:ext cx="1714500" cy="428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F5F3ED"/>
                </a:solidFill>
                <a:latin typeface="Fira Sans"/>
                <a:ea typeface="Fira Sans"/>
                <a:cs typeface="Fira Sans"/>
                <a:sym typeface="Fira Sans"/>
              </a:rPr>
              <a:t>Attack</a:t>
            </a:r>
            <a:endParaRPr/>
          </a:p>
        </p:txBody>
      </p:sp>
      <p:sp>
        <p:nvSpPr>
          <p:cNvPr id="42" name="Google Shape;42;p1"/>
          <p:cNvSpPr/>
          <p:nvPr/>
        </p:nvSpPr>
        <p:spPr>
          <a:xfrm>
            <a:off x="9048750" y="3733800"/>
            <a:ext cx="190500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500">
                <a:solidFill>
                  <a:srgbClr val="8DE1C9"/>
                </a:solidFill>
                <a:latin typeface="Fira Sans"/>
                <a:ea typeface="Fira Sans"/>
                <a:cs typeface="Fira Sans"/>
                <a:sym typeface="Fira Sans"/>
              </a:rPr>
              <a:t>03</a:t>
            </a:r>
            <a:endParaRPr/>
          </a:p>
        </p:txBody>
      </p:sp>
      <p:sp>
        <p:nvSpPr>
          <p:cNvPr id="43" name="Google Shape;43;p1"/>
          <p:cNvSpPr/>
          <p:nvPr/>
        </p:nvSpPr>
        <p:spPr>
          <a:xfrm>
            <a:off x="9953625" y="4029075"/>
            <a:ext cx="1809750" cy="428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F5F3ED"/>
                </a:solidFill>
                <a:latin typeface="Fira Sans"/>
                <a:ea typeface="Fira Sans"/>
                <a:cs typeface="Fira Sans"/>
                <a:sym typeface="Fira Sans"/>
              </a:rPr>
              <a:t>Investigate</a:t>
            </a:r>
            <a:endParaRPr/>
          </a:p>
        </p:txBody>
      </p:sp>
      <p:sp>
        <p:nvSpPr>
          <p:cNvPr id="44" name="Google Shape;44;p1"/>
          <p:cNvSpPr/>
          <p:nvPr/>
        </p:nvSpPr>
        <p:spPr>
          <a:xfrm>
            <a:off x="647700" y="5476875"/>
            <a:ext cx="1019175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00">
                <a:solidFill>
                  <a:srgbClr val="8DE1C9"/>
                </a:solidFill>
                <a:latin typeface="Fira Sans"/>
                <a:ea typeface="Fira Sans"/>
                <a:cs typeface="Fira Sans"/>
                <a:sym typeface="Fira Sans"/>
              </a:rPr>
              <a:t>North Carolina State University</a:t>
            </a:r>
            <a:endParaRPr/>
          </a:p>
        </p:txBody>
      </p:sp>
      <p:sp>
        <p:nvSpPr>
          <p:cNvPr id="45" name="Google Shape;45;p1"/>
          <p:cNvSpPr/>
          <p:nvPr/>
        </p:nvSpPr>
        <p:spPr>
          <a:xfrm>
            <a:off x="647700" y="5905500"/>
            <a:ext cx="1066800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75">
                <a:solidFill>
                  <a:srgbClr val="BDCCD4"/>
                </a:solidFill>
                <a:latin typeface="Fira Sans"/>
                <a:ea typeface="Fira Sans"/>
                <a:cs typeface="Fira Sans"/>
                <a:sym typeface="Fira Sans"/>
              </a:rPr>
              <a:t>Abbott Sherwin, Manas Thumma, Mithoon Sabap, Siddharth Banakar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50" name="Shape 50"/>
        <p:cNvGrpSpPr/>
        <p:nvPr/>
      </p:nvGrpSpPr>
      <p:grpSpPr>
        <a:xfrm>
          <a:off x="0" y="0"/>
          <a:ext cx="0" cy="0"/>
          <a:chOff x="0" y="0"/>
          <a:chExt cx="0" cy="0"/>
        </a:xfrm>
      </p:grpSpPr>
      <p:sp>
        <p:nvSpPr>
          <p:cNvPr id="51" name="Google Shape;51;h335bd839cf77e6f5_0_8"/>
          <p:cNvSpPr/>
          <p:nvPr/>
        </p:nvSpPr>
        <p:spPr>
          <a:xfrm>
            <a:off x="590550" y="304800"/>
            <a:ext cx="10001400" cy="285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087F83"/>
                </a:solidFill>
                <a:latin typeface="Fira Sans"/>
                <a:ea typeface="Fira Sans"/>
                <a:cs typeface="Fira Sans"/>
                <a:sym typeface="Fira Sans"/>
              </a:rPr>
              <a:t>01 / MEASUREMENT</a:t>
            </a:r>
            <a:endParaRPr b="0" i="0" sz="1400" u="none" cap="none" strike="noStrike">
              <a:solidFill>
                <a:srgbClr val="000000"/>
              </a:solidFill>
              <a:latin typeface="Arial"/>
              <a:ea typeface="Arial"/>
              <a:cs typeface="Arial"/>
              <a:sym typeface="Arial"/>
            </a:endParaRPr>
          </a:p>
        </p:txBody>
      </p:sp>
      <p:sp>
        <p:nvSpPr>
          <p:cNvPr id="52" name="Google Shape;52;h335bd839cf77e6f5_0_8"/>
          <p:cNvSpPr/>
          <p:nvPr/>
        </p:nvSpPr>
        <p:spPr>
          <a:xfrm>
            <a:off x="571500" y="800100"/>
            <a:ext cx="11049000" cy="952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142330"/>
                </a:solidFill>
                <a:latin typeface="Fira Sans"/>
                <a:ea typeface="Fira Sans"/>
                <a:cs typeface="Fira Sans"/>
                <a:sym typeface="Fira Sans"/>
              </a:rPr>
              <a:t>Controls determine what timing can tell us</a:t>
            </a:r>
            <a:endParaRPr b="0" i="0" sz="1400" u="none" cap="none" strike="noStrike">
              <a:solidFill>
                <a:srgbClr val="000000"/>
              </a:solidFill>
              <a:latin typeface="Arial"/>
              <a:ea typeface="Arial"/>
              <a:cs typeface="Arial"/>
              <a:sym typeface="Arial"/>
            </a:endParaRPr>
          </a:p>
        </p:txBody>
      </p:sp>
      <p:sp>
        <p:nvSpPr>
          <p:cNvPr id="53" name="Google Shape;53;h335bd839cf77e6f5_0_8"/>
          <p:cNvSpPr/>
          <p:nvPr/>
        </p:nvSpPr>
        <p:spPr>
          <a:xfrm>
            <a:off x="590550" y="6429375"/>
            <a:ext cx="11010900" cy="9600"/>
          </a:xfrm>
          <a:prstGeom prst="rect">
            <a:avLst/>
          </a:prstGeom>
          <a:solidFill>
            <a:srgbClr val="CCD3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h335bd839cf77e6f5_0_8"/>
          <p:cNvSpPr/>
          <p:nvPr/>
        </p:nvSpPr>
        <p:spPr>
          <a:xfrm>
            <a:off x="590550" y="6524625"/>
            <a:ext cx="6191400" cy="24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2616B"/>
                </a:solidFill>
                <a:latin typeface="Fira Sans"/>
                <a:ea typeface="Fira Sans"/>
                <a:cs typeface="Fira Sans"/>
                <a:sym typeface="Fira Sans"/>
              </a:rPr>
              <a:t>ECE 592  /  GROUP G</a:t>
            </a:r>
            <a:endParaRPr b="0" i="0" sz="1400" u="none" cap="none" strike="noStrike">
              <a:solidFill>
                <a:srgbClr val="000000"/>
              </a:solidFill>
              <a:latin typeface="Arial"/>
              <a:ea typeface="Arial"/>
              <a:cs typeface="Arial"/>
              <a:sym typeface="Arial"/>
            </a:endParaRPr>
          </a:p>
        </p:txBody>
      </p:sp>
      <p:sp>
        <p:nvSpPr>
          <p:cNvPr id="55" name="Google Shape;55;h335bd839cf77e6f5_0_8"/>
          <p:cNvSpPr/>
          <p:nvPr/>
        </p:nvSpPr>
        <p:spPr>
          <a:xfrm>
            <a:off x="11115675" y="6505575"/>
            <a:ext cx="476400" cy="24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2616B"/>
                </a:solidFill>
                <a:latin typeface="Fira Sans"/>
                <a:ea typeface="Fira Sans"/>
                <a:cs typeface="Fira Sans"/>
                <a:sym typeface="Fira Sans"/>
              </a:rPr>
              <a:t>02</a:t>
            </a:r>
            <a:endParaRPr b="0" i="0" sz="1400" u="none" cap="none" strike="noStrike">
              <a:solidFill>
                <a:srgbClr val="000000"/>
              </a:solidFill>
              <a:latin typeface="Arial"/>
              <a:ea typeface="Arial"/>
              <a:cs typeface="Arial"/>
              <a:sym typeface="Arial"/>
            </a:endParaRPr>
          </a:p>
        </p:txBody>
      </p:sp>
      <p:sp>
        <p:nvSpPr>
          <p:cNvPr id="56" name="Google Shape;56;h335bd839cf77e6f5_0_8"/>
          <p:cNvSpPr/>
          <p:nvPr/>
        </p:nvSpPr>
        <p:spPr>
          <a:xfrm>
            <a:off x="590550" y="2047875"/>
            <a:ext cx="2571900" cy="1428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400"/>
              <a:buFont typeface="Arial"/>
              <a:buNone/>
            </a:pPr>
            <a:r>
              <a:rPr b="1" i="0" lang="en-US" sz="8400" u="none" cap="none" strike="noStrike">
                <a:solidFill>
                  <a:srgbClr val="087F83"/>
                </a:solidFill>
                <a:latin typeface="Fira Sans"/>
                <a:ea typeface="Fira Sans"/>
                <a:cs typeface="Fira Sans"/>
                <a:sym typeface="Fira Sans"/>
              </a:rPr>
              <a:t>17</a:t>
            </a:r>
            <a:endParaRPr b="0" i="0" sz="1400" u="none" cap="none" strike="noStrike">
              <a:solidFill>
                <a:srgbClr val="000000"/>
              </a:solidFill>
              <a:latin typeface="Arial"/>
              <a:ea typeface="Arial"/>
              <a:cs typeface="Arial"/>
              <a:sym typeface="Arial"/>
            </a:endParaRPr>
          </a:p>
        </p:txBody>
      </p:sp>
      <p:sp>
        <p:nvSpPr>
          <p:cNvPr id="57" name="Google Shape;57;h335bd839cf77e6f5_0_8"/>
          <p:cNvSpPr/>
          <p:nvPr/>
        </p:nvSpPr>
        <p:spPr>
          <a:xfrm>
            <a:off x="647700" y="3524250"/>
            <a:ext cx="2428800" cy="9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50"/>
              <a:buFont typeface="Arial"/>
              <a:buNone/>
            </a:pPr>
            <a:r>
              <a:rPr b="1" i="0" lang="en-US" sz="2250" u="none" cap="none" strike="noStrike">
                <a:solidFill>
                  <a:srgbClr val="142330"/>
                </a:solidFill>
                <a:latin typeface="Fira Sans"/>
                <a:ea typeface="Fira Sans"/>
                <a:cs typeface="Fira Sans"/>
                <a:sym typeface="Fira Sans"/>
              </a:rPr>
              <a:t>HW1 baselines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50"/>
              <a:buFont typeface="Arial"/>
              <a:buNone/>
            </a:pPr>
            <a:r>
              <a:rPr b="1" i="0" lang="en-US" sz="2250" u="none" cap="none" strike="noStrike">
                <a:solidFill>
                  <a:srgbClr val="142330"/>
                </a:solidFill>
                <a:latin typeface="Fira Sans"/>
                <a:ea typeface="Fira Sans"/>
                <a:cs typeface="Fira Sans"/>
                <a:sym typeface="Fira Sans"/>
              </a:rPr>
              <a:t>reviewed</a:t>
            </a:r>
            <a:endParaRPr b="0" i="0" sz="1400" u="none" cap="none" strike="noStrike">
              <a:solidFill>
                <a:srgbClr val="000000"/>
              </a:solidFill>
              <a:latin typeface="Arial"/>
              <a:ea typeface="Arial"/>
              <a:cs typeface="Arial"/>
              <a:sym typeface="Arial"/>
            </a:endParaRPr>
          </a:p>
        </p:txBody>
      </p:sp>
      <p:sp>
        <p:nvSpPr>
          <p:cNvPr id="58" name="Google Shape;58;h335bd839cf77e6f5_0_8"/>
          <p:cNvSpPr/>
          <p:nvPr/>
        </p:nvSpPr>
        <p:spPr>
          <a:xfrm>
            <a:off x="647700" y="4857750"/>
            <a:ext cx="2476500"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52616B"/>
                </a:solidFill>
                <a:latin typeface="Fira Sans"/>
                <a:ea typeface="Fira Sans"/>
                <a:cs typeface="Fira Sans"/>
                <a:sym typeface="Fira Sans"/>
              </a:rPr>
              <a:t>Five completed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52616B"/>
                </a:solidFill>
                <a:latin typeface="Fira Sans"/>
                <a:ea typeface="Fira Sans"/>
                <a:cs typeface="Fira Sans"/>
                <a:sym typeface="Fira Sans"/>
              </a:rPr>
              <a:t>measurement lessons</a:t>
            </a:r>
            <a:endParaRPr b="0" i="0" sz="1400" u="none" cap="none" strike="noStrike">
              <a:solidFill>
                <a:srgbClr val="000000"/>
              </a:solidFill>
              <a:latin typeface="Arial"/>
              <a:ea typeface="Arial"/>
              <a:cs typeface="Arial"/>
              <a:sym typeface="Arial"/>
            </a:endParaRPr>
          </a:p>
        </p:txBody>
      </p:sp>
      <p:sp>
        <p:nvSpPr>
          <p:cNvPr id="59" name="Google Shape;59;h335bd839cf77e6f5_0_8"/>
          <p:cNvSpPr/>
          <p:nvPr/>
        </p:nvSpPr>
        <p:spPr>
          <a:xfrm>
            <a:off x="3571875" y="1809750"/>
            <a:ext cx="6669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87F83"/>
                </a:solidFill>
                <a:latin typeface="Fira Sans"/>
                <a:ea typeface="Fira Sans"/>
                <a:cs typeface="Fira Sans"/>
                <a:sym typeface="Fira Sans"/>
              </a:rPr>
              <a:t>01</a:t>
            </a:r>
            <a:endParaRPr b="0" i="0" sz="1400" u="none" cap="none" strike="noStrike">
              <a:solidFill>
                <a:srgbClr val="000000"/>
              </a:solidFill>
              <a:latin typeface="Arial"/>
              <a:ea typeface="Arial"/>
              <a:cs typeface="Arial"/>
              <a:sym typeface="Arial"/>
            </a:endParaRPr>
          </a:p>
        </p:txBody>
      </p:sp>
      <p:sp>
        <p:nvSpPr>
          <p:cNvPr id="60" name="Google Shape;60;h335bd839cf77e6f5_0_8"/>
          <p:cNvSpPr/>
          <p:nvPr/>
        </p:nvSpPr>
        <p:spPr>
          <a:xfrm>
            <a:off x="4333875" y="1809750"/>
            <a:ext cx="7000800" cy="3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175"/>
              <a:buFont typeface="Arial"/>
              <a:buNone/>
            </a:pPr>
            <a:r>
              <a:rPr b="1" i="0" lang="en-US" sz="2175" u="none" cap="none" strike="noStrike">
                <a:solidFill>
                  <a:srgbClr val="142330"/>
                </a:solidFill>
                <a:latin typeface="Fira Sans"/>
                <a:ea typeface="Fira Sans"/>
                <a:cs typeface="Fira Sans"/>
                <a:sym typeface="Fira Sans"/>
              </a:rPr>
              <a:t>Comparable time</a:t>
            </a:r>
            <a:endParaRPr b="0" i="0" sz="1400" u="none" cap="none" strike="noStrike">
              <a:solidFill>
                <a:srgbClr val="000000"/>
              </a:solidFill>
              <a:latin typeface="Arial"/>
              <a:ea typeface="Arial"/>
              <a:cs typeface="Arial"/>
              <a:sym typeface="Arial"/>
            </a:endParaRPr>
          </a:p>
        </p:txBody>
      </p:sp>
      <p:sp>
        <p:nvSpPr>
          <p:cNvPr id="61" name="Google Shape;61;h335bd839cf77e6f5_0_8"/>
          <p:cNvSpPr/>
          <p:nvPr/>
        </p:nvSpPr>
        <p:spPr>
          <a:xfrm>
            <a:off x="4333875" y="2152650"/>
            <a:ext cx="7000800" cy="55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52616B"/>
                </a:solidFill>
                <a:latin typeface="Fira Sans"/>
                <a:ea typeface="Fira Sans"/>
                <a:cs typeface="Fira Sans"/>
                <a:sym typeface="Fira Sans"/>
              </a:rPr>
              <a:t>Convert machine ticks to nanoseconds.</a:t>
            </a:r>
            <a:endParaRPr b="0" i="0" sz="1400" u="none" cap="none" strike="noStrike">
              <a:solidFill>
                <a:srgbClr val="000000"/>
              </a:solidFill>
              <a:latin typeface="Arial"/>
              <a:ea typeface="Arial"/>
              <a:cs typeface="Arial"/>
              <a:sym typeface="Arial"/>
            </a:endParaRPr>
          </a:p>
        </p:txBody>
      </p:sp>
      <p:sp>
        <p:nvSpPr>
          <p:cNvPr id="62" name="Google Shape;62;h335bd839cf77e6f5_0_8"/>
          <p:cNvSpPr/>
          <p:nvPr/>
        </p:nvSpPr>
        <p:spPr>
          <a:xfrm>
            <a:off x="3571875" y="2971800"/>
            <a:ext cx="7858200" cy="9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h335bd839cf77e6f5_0_8"/>
          <p:cNvSpPr/>
          <p:nvPr/>
        </p:nvSpPr>
        <p:spPr>
          <a:xfrm>
            <a:off x="3571875" y="2705100"/>
            <a:ext cx="6669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87F83"/>
                </a:solidFill>
                <a:latin typeface="Fira Sans"/>
                <a:ea typeface="Fira Sans"/>
                <a:cs typeface="Fira Sans"/>
                <a:sym typeface="Fira Sans"/>
              </a:rPr>
              <a:t>02</a:t>
            </a:r>
            <a:endParaRPr b="0" i="0" sz="1400" u="none" cap="none" strike="noStrike">
              <a:solidFill>
                <a:srgbClr val="000000"/>
              </a:solidFill>
              <a:latin typeface="Arial"/>
              <a:ea typeface="Arial"/>
              <a:cs typeface="Arial"/>
              <a:sym typeface="Arial"/>
            </a:endParaRPr>
          </a:p>
        </p:txBody>
      </p:sp>
      <p:sp>
        <p:nvSpPr>
          <p:cNvPr id="64" name="Google Shape;64;h335bd839cf77e6f5_0_8"/>
          <p:cNvSpPr/>
          <p:nvPr/>
        </p:nvSpPr>
        <p:spPr>
          <a:xfrm>
            <a:off x="4333875" y="2705100"/>
            <a:ext cx="7000800" cy="3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175"/>
              <a:buFont typeface="Arial"/>
              <a:buNone/>
            </a:pPr>
            <a:r>
              <a:rPr b="1" i="0" lang="en-US" sz="2175" u="none" cap="none" strike="noStrike">
                <a:solidFill>
                  <a:srgbClr val="142330"/>
                </a:solidFill>
                <a:latin typeface="Fira Sans"/>
                <a:ea typeface="Fira Sans"/>
                <a:cs typeface="Fira Sans"/>
                <a:sym typeface="Fira Sans"/>
              </a:rPr>
              <a:t>Cache boundaries</a:t>
            </a:r>
            <a:endParaRPr b="0" i="0" sz="1400" u="none" cap="none" strike="noStrike">
              <a:solidFill>
                <a:srgbClr val="000000"/>
              </a:solidFill>
              <a:latin typeface="Arial"/>
              <a:ea typeface="Arial"/>
              <a:cs typeface="Arial"/>
              <a:sym typeface="Arial"/>
            </a:endParaRPr>
          </a:p>
        </p:txBody>
      </p:sp>
      <p:sp>
        <p:nvSpPr>
          <p:cNvPr id="65" name="Google Shape;65;h335bd839cf77e6f5_0_8"/>
          <p:cNvSpPr/>
          <p:nvPr/>
        </p:nvSpPr>
        <p:spPr>
          <a:xfrm>
            <a:off x="4333875" y="3048000"/>
            <a:ext cx="7000800" cy="55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52616B"/>
                </a:solidFill>
                <a:latin typeface="Fira Sans"/>
                <a:ea typeface="Fira Sans"/>
                <a:cs typeface="Fira Sans"/>
                <a:sym typeface="Fira Sans"/>
              </a:rPr>
              <a:t>Sweep densely around transitions,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52616B"/>
                </a:solidFill>
                <a:latin typeface="Fira Sans"/>
                <a:ea typeface="Fira Sans"/>
                <a:cs typeface="Fira Sans"/>
                <a:sym typeface="Fira Sans"/>
              </a:rPr>
              <a:t>including non-power-of-two capacities.</a:t>
            </a:r>
            <a:endParaRPr b="0" i="0" sz="1400" u="none" cap="none" strike="noStrike">
              <a:solidFill>
                <a:srgbClr val="000000"/>
              </a:solidFill>
              <a:latin typeface="Arial"/>
              <a:ea typeface="Arial"/>
              <a:cs typeface="Arial"/>
              <a:sym typeface="Arial"/>
            </a:endParaRPr>
          </a:p>
        </p:txBody>
      </p:sp>
      <p:sp>
        <p:nvSpPr>
          <p:cNvPr id="66" name="Google Shape;66;h335bd839cf77e6f5_0_8"/>
          <p:cNvSpPr/>
          <p:nvPr/>
        </p:nvSpPr>
        <p:spPr>
          <a:xfrm>
            <a:off x="3571875" y="4076700"/>
            <a:ext cx="7858200" cy="9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h335bd839cf77e6f5_0_8"/>
          <p:cNvSpPr/>
          <p:nvPr/>
        </p:nvSpPr>
        <p:spPr>
          <a:xfrm>
            <a:off x="3571875" y="3600450"/>
            <a:ext cx="6669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87F83"/>
                </a:solidFill>
                <a:latin typeface="Fira Sans"/>
                <a:ea typeface="Fira Sans"/>
                <a:cs typeface="Fira Sans"/>
                <a:sym typeface="Fira Sans"/>
              </a:rPr>
              <a:t>03</a:t>
            </a:r>
            <a:endParaRPr b="0" i="0" sz="1400" u="none" cap="none" strike="noStrike">
              <a:solidFill>
                <a:srgbClr val="000000"/>
              </a:solidFill>
              <a:latin typeface="Arial"/>
              <a:ea typeface="Arial"/>
              <a:cs typeface="Arial"/>
              <a:sym typeface="Arial"/>
            </a:endParaRPr>
          </a:p>
        </p:txBody>
      </p:sp>
      <p:sp>
        <p:nvSpPr>
          <p:cNvPr id="68" name="Google Shape;68;h335bd839cf77e6f5_0_8"/>
          <p:cNvSpPr/>
          <p:nvPr/>
        </p:nvSpPr>
        <p:spPr>
          <a:xfrm>
            <a:off x="4333875" y="3600450"/>
            <a:ext cx="7000800" cy="3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175"/>
              <a:buFont typeface="Arial"/>
              <a:buNone/>
            </a:pPr>
            <a:r>
              <a:rPr b="1" i="0" lang="en-US" sz="2175" u="none" cap="none" strike="noStrike">
                <a:solidFill>
                  <a:srgbClr val="142330"/>
                </a:solidFill>
                <a:latin typeface="Fira Sans"/>
                <a:ea typeface="Fira Sans"/>
                <a:cs typeface="Fira Sans"/>
                <a:sym typeface="Fira Sans"/>
              </a:rPr>
              <a:t>Inclusion</a:t>
            </a:r>
            <a:endParaRPr b="0" i="0" sz="1400" u="none" cap="none" strike="noStrike">
              <a:solidFill>
                <a:srgbClr val="000000"/>
              </a:solidFill>
              <a:latin typeface="Arial"/>
              <a:ea typeface="Arial"/>
              <a:cs typeface="Arial"/>
              <a:sym typeface="Arial"/>
            </a:endParaRPr>
          </a:p>
        </p:txBody>
      </p:sp>
      <p:sp>
        <p:nvSpPr>
          <p:cNvPr id="69" name="Google Shape;69;h335bd839cf77e6f5_0_8"/>
          <p:cNvSpPr/>
          <p:nvPr/>
        </p:nvSpPr>
        <p:spPr>
          <a:xfrm>
            <a:off x="4333875" y="3943350"/>
            <a:ext cx="7000800" cy="55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52616B"/>
                </a:solidFill>
                <a:latin typeface="Fira Sans"/>
                <a:ea typeface="Fira Sans"/>
                <a:cs typeface="Fira Sans"/>
                <a:sym typeface="Fira Sans"/>
              </a:rPr>
              <a:t>Separate the eviction and probe cores.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52616B"/>
                </a:solidFill>
                <a:latin typeface="Fira Sans"/>
                <a:ea typeface="Fira Sans"/>
                <a:cs typeface="Fira Sans"/>
                <a:sym typeface="Fira Sans"/>
              </a:rPr>
              <a:t>Use a decoy set to test causality.</a:t>
            </a:r>
            <a:endParaRPr b="0" i="0" sz="1400" u="none" cap="none" strike="noStrike">
              <a:solidFill>
                <a:srgbClr val="000000"/>
              </a:solidFill>
              <a:latin typeface="Arial"/>
              <a:ea typeface="Arial"/>
              <a:cs typeface="Arial"/>
              <a:sym typeface="Arial"/>
            </a:endParaRPr>
          </a:p>
        </p:txBody>
      </p:sp>
      <p:sp>
        <p:nvSpPr>
          <p:cNvPr id="70" name="Google Shape;70;h335bd839cf77e6f5_0_8"/>
          <p:cNvSpPr/>
          <p:nvPr/>
        </p:nvSpPr>
        <p:spPr>
          <a:xfrm>
            <a:off x="3571875" y="5181600"/>
            <a:ext cx="7858200" cy="9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h335bd839cf77e6f5_0_8"/>
          <p:cNvSpPr/>
          <p:nvPr/>
        </p:nvSpPr>
        <p:spPr>
          <a:xfrm>
            <a:off x="3571875" y="5391150"/>
            <a:ext cx="6669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87F83"/>
                </a:solidFill>
                <a:latin typeface="Fira Sans"/>
                <a:ea typeface="Fira Sans"/>
                <a:cs typeface="Fira Sans"/>
                <a:sym typeface="Fira Sans"/>
              </a:rPr>
              <a:t>05</a:t>
            </a:r>
            <a:endParaRPr b="0" i="0" sz="1400" u="none" cap="none" strike="noStrike">
              <a:solidFill>
                <a:srgbClr val="000000"/>
              </a:solidFill>
              <a:latin typeface="Arial"/>
              <a:ea typeface="Arial"/>
              <a:cs typeface="Arial"/>
              <a:sym typeface="Arial"/>
            </a:endParaRPr>
          </a:p>
        </p:txBody>
      </p:sp>
      <p:sp>
        <p:nvSpPr>
          <p:cNvPr id="72" name="Google Shape;72;h335bd839cf77e6f5_0_8"/>
          <p:cNvSpPr/>
          <p:nvPr/>
        </p:nvSpPr>
        <p:spPr>
          <a:xfrm>
            <a:off x="4333875" y="5391150"/>
            <a:ext cx="7000800" cy="3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175"/>
              <a:buFont typeface="Arial"/>
              <a:buNone/>
            </a:pPr>
            <a:r>
              <a:rPr b="1" i="0" lang="en-US" sz="2175" u="none" cap="none" strike="noStrike">
                <a:solidFill>
                  <a:srgbClr val="142330"/>
                </a:solidFill>
                <a:latin typeface="Fira Sans"/>
                <a:ea typeface="Fira Sans"/>
                <a:cs typeface="Fira Sans"/>
                <a:sym typeface="Fira Sans"/>
              </a:rPr>
              <a:t>Associativity</a:t>
            </a:r>
            <a:endParaRPr b="0" i="0" sz="1400" u="none" cap="none" strike="noStrike">
              <a:solidFill>
                <a:srgbClr val="000000"/>
              </a:solidFill>
              <a:latin typeface="Arial"/>
              <a:ea typeface="Arial"/>
              <a:cs typeface="Arial"/>
              <a:sym typeface="Arial"/>
            </a:endParaRPr>
          </a:p>
        </p:txBody>
      </p:sp>
      <p:sp>
        <p:nvSpPr>
          <p:cNvPr id="73" name="Google Shape;73;h335bd839cf77e6f5_0_8"/>
          <p:cNvSpPr/>
          <p:nvPr/>
        </p:nvSpPr>
        <p:spPr>
          <a:xfrm>
            <a:off x="4333875" y="5734050"/>
            <a:ext cx="7000800" cy="55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52616B"/>
                </a:solidFill>
                <a:latin typeface="Fira Sans"/>
                <a:ea typeface="Fira Sans"/>
                <a:cs typeface="Fira Sans"/>
                <a:sym typeface="Fira Sans"/>
              </a:rPr>
              <a:t>Use latency transitions when eviction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52616B"/>
                </a:solidFill>
                <a:latin typeface="Fira Sans"/>
                <a:ea typeface="Fira Sans"/>
                <a:cs typeface="Fira Sans"/>
                <a:sym typeface="Fira Sans"/>
              </a:rPr>
              <a:t>probabilities are too noisy.</a:t>
            </a:r>
            <a:endParaRPr b="0" i="0" sz="1400" u="none" cap="none" strike="noStrike">
              <a:solidFill>
                <a:srgbClr val="000000"/>
              </a:solidFill>
              <a:latin typeface="Arial"/>
              <a:ea typeface="Arial"/>
              <a:cs typeface="Arial"/>
              <a:sym typeface="Arial"/>
            </a:endParaRPr>
          </a:p>
        </p:txBody>
      </p:sp>
      <p:sp>
        <p:nvSpPr>
          <p:cNvPr id="74" name="Google Shape;74;h335bd839cf77e6f5_0_8"/>
          <p:cNvSpPr/>
          <p:nvPr/>
        </p:nvSpPr>
        <p:spPr>
          <a:xfrm>
            <a:off x="3571875" y="4495800"/>
            <a:ext cx="6669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800" u="none" cap="none" strike="noStrike">
                <a:solidFill>
                  <a:srgbClr val="087F83"/>
                </a:solidFill>
                <a:latin typeface="Fira Sans"/>
                <a:ea typeface="Fira Sans"/>
                <a:cs typeface="Fira Sans"/>
                <a:sym typeface="Fira Sans"/>
              </a:rPr>
              <a:t>04</a:t>
            </a:r>
            <a:endParaRPr/>
          </a:p>
        </p:txBody>
      </p:sp>
      <p:sp>
        <p:nvSpPr>
          <p:cNvPr id="75" name="Google Shape;75;h335bd839cf77e6f5_0_8"/>
          <p:cNvSpPr/>
          <p:nvPr/>
        </p:nvSpPr>
        <p:spPr>
          <a:xfrm>
            <a:off x="4333875" y="4495800"/>
            <a:ext cx="7000800" cy="3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175" u="none" cap="none" strike="noStrike">
                <a:solidFill>
                  <a:srgbClr val="142330"/>
                </a:solidFill>
                <a:latin typeface="Fira Sans"/>
                <a:ea typeface="Fira Sans"/>
                <a:cs typeface="Fira Sans"/>
                <a:sym typeface="Fira Sans"/>
              </a:rPr>
              <a:t>Page placement and translation</a:t>
            </a:r>
            <a:endParaRPr/>
          </a:p>
        </p:txBody>
      </p:sp>
      <p:sp>
        <p:nvSpPr>
          <p:cNvPr id="76" name="Google Shape;76;h335bd839cf77e6f5_0_8"/>
          <p:cNvSpPr/>
          <p:nvPr/>
        </p:nvSpPr>
        <p:spPr>
          <a:xfrm>
            <a:off x="4333875" y="4838700"/>
            <a:ext cx="7000800" cy="55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800" u="none" cap="none" strike="noStrike">
                <a:solidFill>
                  <a:srgbClr val="52616B"/>
                </a:solidFill>
                <a:latin typeface="Fira Sans"/>
                <a:ea typeface="Fira Sans"/>
                <a:cs typeface="Fira Sans"/>
                <a:sym typeface="Fira Sans"/>
              </a:rPr>
              <a:t>Vary page setups and compare counters to</a:t>
            </a:r>
            <a:endParaRPr/>
          </a:p>
          <a:p>
            <a:pPr indent="0" lvl="0" marL="0" marR="0" rtl="0" algn="l">
              <a:lnSpc>
                <a:spcPct val="100000"/>
              </a:lnSpc>
              <a:spcBef>
                <a:spcPts val="0"/>
              </a:spcBef>
              <a:spcAft>
                <a:spcPts val="0"/>
              </a:spcAft>
              <a:buNone/>
            </a:pPr>
            <a:r>
              <a:rPr b="0" i="0" lang="en-US" sz="1800" u="none" cap="none" strike="noStrike">
                <a:solidFill>
                  <a:srgbClr val="52616B"/>
                </a:solidFill>
                <a:latin typeface="Fira Sans"/>
                <a:ea typeface="Fira Sans"/>
                <a:cs typeface="Fira Sans"/>
                <a:sym typeface="Fira Sans"/>
              </a:rPr>
              <a:t>separate cache, placement, and translation effects.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81" name="Shape 81"/>
        <p:cNvGrpSpPr/>
        <p:nvPr/>
      </p:nvGrpSpPr>
      <p:grpSpPr>
        <a:xfrm>
          <a:off x="0" y="0"/>
          <a:ext cx="0" cy="0"/>
          <a:chOff x="0" y="0"/>
          <a:chExt cx="0" cy="0"/>
        </a:xfrm>
      </p:grpSpPr>
      <p:sp>
        <p:nvSpPr>
          <p:cNvPr id="82" name="Google Shape;82;p3"/>
          <p:cNvSpPr/>
          <p:nvPr/>
        </p:nvSpPr>
        <p:spPr>
          <a:xfrm>
            <a:off x="590550" y="304800"/>
            <a:ext cx="100012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087F83"/>
                </a:solidFill>
                <a:latin typeface="Fira Sans"/>
                <a:ea typeface="Fira Sans"/>
                <a:cs typeface="Fira Sans"/>
                <a:sym typeface="Fira Sans"/>
              </a:rPr>
              <a:t>01 / HISTORICAL PREDICTIONS</a:t>
            </a:r>
            <a:endParaRPr/>
          </a:p>
        </p:txBody>
      </p:sp>
      <p:sp>
        <p:nvSpPr>
          <p:cNvPr id="83" name="Google Shape;83;p3"/>
          <p:cNvSpPr/>
          <p:nvPr/>
        </p:nvSpPr>
        <p:spPr>
          <a:xfrm>
            <a:off x="571500" y="8001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42330"/>
                </a:solidFill>
                <a:latin typeface="Fira Sans"/>
                <a:ea typeface="Fira Sans"/>
                <a:cs typeface="Fira Sans"/>
                <a:sym typeface="Fira Sans"/>
              </a:rPr>
              <a:t>Cache behavior depends on workload</a:t>
            </a:r>
            <a:endParaRPr/>
          </a:p>
        </p:txBody>
      </p:sp>
      <p:sp>
        <p:nvSpPr>
          <p:cNvPr id="84" name="Google Shape;84;p3"/>
          <p:cNvSpPr/>
          <p:nvPr/>
        </p:nvSpPr>
        <p:spPr>
          <a:xfrm>
            <a:off x="590550" y="6429375"/>
            <a:ext cx="11010900" cy="9525"/>
          </a:xfrm>
          <a:prstGeom prst="rect">
            <a:avLst/>
          </a:prstGeom>
          <a:solidFill>
            <a:srgbClr val="CCD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590550" y="6524625"/>
            <a:ext cx="6191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2616B"/>
                </a:solidFill>
                <a:latin typeface="Fira Sans"/>
                <a:ea typeface="Fira Sans"/>
                <a:cs typeface="Fira Sans"/>
                <a:sym typeface="Fira Sans"/>
              </a:rPr>
              <a:t>ECE 592  /  GROUP G</a:t>
            </a:r>
            <a:endParaRPr/>
          </a:p>
        </p:txBody>
      </p:sp>
      <p:sp>
        <p:nvSpPr>
          <p:cNvPr id="86" name="Google Shape;86;p3"/>
          <p:cNvSpPr/>
          <p:nvPr/>
        </p:nvSpPr>
        <p:spPr>
          <a:xfrm>
            <a:off x="11115675" y="6505575"/>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52616B"/>
                </a:solidFill>
                <a:latin typeface="Fira Sans"/>
                <a:ea typeface="Fira Sans"/>
                <a:cs typeface="Fira Sans"/>
                <a:sym typeface="Fira Sans"/>
              </a:rPr>
              <a:t>03</a:t>
            </a:r>
            <a:endParaRPr/>
          </a:p>
        </p:txBody>
      </p:sp>
      <p:sp>
        <p:nvSpPr>
          <p:cNvPr id="87" name="Google Shape;87;p3"/>
          <p:cNvSpPr/>
          <p:nvPr/>
        </p:nvSpPr>
        <p:spPr>
          <a:xfrm>
            <a:off x="590550" y="1924050"/>
            <a:ext cx="1047750" cy="523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75">
                <a:solidFill>
                  <a:srgbClr val="087F83"/>
                </a:solidFill>
                <a:latin typeface="Fira Sans"/>
                <a:ea typeface="Fira Sans"/>
                <a:cs typeface="Fira Sans"/>
                <a:sym typeface="Fira Sans"/>
              </a:rPr>
              <a:t>H1</a:t>
            </a:r>
            <a:endParaRPr/>
          </a:p>
        </p:txBody>
      </p:sp>
      <p:sp>
        <p:nvSpPr>
          <p:cNvPr id="88" name="Google Shape;88;p3"/>
          <p:cNvSpPr/>
          <p:nvPr/>
        </p:nvSpPr>
        <p:spPr>
          <a:xfrm>
            <a:off x="1762125" y="1924050"/>
            <a:ext cx="4000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142330"/>
                </a:solidFill>
                <a:latin typeface="Fira Sans"/>
                <a:ea typeface="Fira Sans"/>
                <a:cs typeface="Fira Sans"/>
                <a:sym typeface="Fira Sans"/>
              </a:rPr>
              <a:t>Direct-mapped caches</a:t>
            </a:r>
            <a:endParaRPr/>
          </a:p>
        </p:txBody>
      </p:sp>
      <p:sp>
        <p:nvSpPr>
          <p:cNvPr id="89" name="Google Shape;89;p3"/>
          <p:cNvSpPr/>
          <p:nvPr/>
        </p:nvSpPr>
        <p:spPr>
          <a:xfrm>
            <a:off x="6191250" y="1924050"/>
            <a:ext cx="542925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950">
                <a:solidFill>
                  <a:srgbClr val="087F83"/>
                </a:solidFill>
                <a:latin typeface="Fira Sans"/>
                <a:ea typeface="Fira Sans"/>
                <a:cs typeface="Fira Sans"/>
                <a:sym typeface="Fira Sans"/>
              </a:rPr>
              <a:t>Contradicted in the reviewed results</a:t>
            </a:r>
            <a:endParaRPr/>
          </a:p>
        </p:txBody>
      </p:sp>
      <p:sp>
        <p:nvSpPr>
          <p:cNvPr id="90" name="Google Shape;90;p3"/>
          <p:cNvSpPr/>
          <p:nvPr/>
        </p:nvSpPr>
        <p:spPr>
          <a:xfrm>
            <a:off x="6191250" y="2381250"/>
            <a:ext cx="5429250" cy="7905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52616B"/>
                </a:solidFill>
                <a:latin typeface="Fira Sans"/>
                <a:ea typeface="Fira Sans"/>
                <a:cs typeface="Fira Sans"/>
                <a:sym typeface="Fira Sans"/>
              </a:rPr>
              <a:t>Measured L1 caches remained set-associative</a:t>
            </a:r>
            <a:endParaRPr/>
          </a:p>
          <a:p>
            <a:pPr indent="0" lvl="0" marL="0" marR="0" rtl="0" algn="l">
              <a:spcBef>
                <a:spcPts val="0"/>
              </a:spcBef>
              <a:spcAft>
                <a:spcPts val="0"/>
              </a:spcAft>
              <a:buNone/>
            </a:pPr>
            <a:r>
              <a:rPr b="0" lang="en-US" sz="1875">
                <a:solidFill>
                  <a:srgbClr val="52616B"/>
                </a:solidFill>
                <a:latin typeface="Fira Sans"/>
                <a:ea typeface="Fira Sans"/>
                <a:cs typeface="Fira Sans"/>
                <a:sym typeface="Fira Sans"/>
              </a:rPr>
              <a:t>while hit latency stayed roughly flat.</a:t>
            </a:r>
            <a:endParaRPr/>
          </a:p>
        </p:txBody>
      </p:sp>
      <p:sp>
        <p:nvSpPr>
          <p:cNvPr id="91" name="Google Shape;91;p3"/>
          <p:cNvSpPr/>
          <p:nvPr/>
        </p:nvSpPr>
        <p:spPr>
          <a:xfrm>
            <a:off x="590550" y="3143250"/>
            <a:ext cx="10953750" cy="9525"/>
          </a:xfrm>
          <a:prstGeom prst="rect">
            <a:avLst/>
          </a:prstGeom>
          <a:solidFill>
            <a:srgbClr val="CCD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590550" y="3333750"/>
            <a:ext cx="1047750" cy="523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75">
                <a:solidFill>
                  <a:srgbClr val="087F83"/>
                </a:solidFill>
                <a:latin typeface="Fira Sans"/>
                <a:ea typeface="Fira Sans"/>
                <a:cs typeface="Fira Sans"/>
                <a:sym typeface="Fira Sans"/>
              </a:rPr>
              <a:t>H2</a:t>
            </a:r>
            <a:endParaRPr/>
          </a:p>
        </p:txBody>
      </p:sp>
      <p:sp>
        <p:nvSpPr>
          <p:cNvPr id="93" name="Google Shape;93;p3"/>
          <p:cNvSpPr/>
          <p:nvPr/>
        </p:nvSpPr>
        <p:spPr>
          <a:xfrm>
            <a:off x="1762125" y="3333750"/>
            <a:ext cx="4000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142330"/>
                </a:solidFill>
                <a:latin typeface="Fira Sans"/>
                <a:ea typeface="Fira Sans"/>
                <a:cs typeface="Fira Sans"/>
                <a:sym typeface="Fira Sans"/>
              </a:rPr>
              <a:t>The memory wall</a:t>
            </a:r>
            <a:endParaRPr/>
          </a:p>
        </p:txBody>
      </p:sp>
      <p:sp>
        <p:nvSpPr>
          <p:cNvPr id="94" name="Google Shape;94;p3"/>
          <p:cNvSpPr/>
          <p:nvPr/>
        </p:nvSpPr>
        <p:spPr>
          <a:xfrm>
            <a:off x="6191250" y="3333750"/>
            <a:ext cx="542925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950">
                <a:solidFill>
                  <a:srgbClr val="087F83"/>
                </a:solidFill>
                <a:latin typeface="Fira Sans"/>
                <a:ea typeface="Fira Sans"/>
                <a:cs typeface="Fira Sans"/>
                <a:sym typeface="Fira Sans"/>
              </a:rPr>
              <a:t>Supported as workload dependent</a:t>
            </a:r>
            <a:endParaRPr/>
          </a:p>
        </p:txBody>
      </p:sp>
      <p:sp>
        <p:nvSpPr>
          <p:cNvPr id="95" name="Google Shape;95;p3"/>
          <p:cNvSpPr/>
          <p:nvPr/>
        </p:nvSpPr>
        <p:spPr>
          <a:xfrm>
            <a:off x="6191250" y="3790950"/>
            <a:ext cx="5429250" cy="7905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52616B"/>
                </a:solidFill>
                <a:latin typeface="Fira Sans"/>
                <a:ea typeface="Fira Sans"/>
                <a:cs typeface="Fira Sans"/>
                <a:sym typeface="Fira Sans"/>
              </a:rPr>
              <a:t>Sequential access stayed faster than random</a:t>
            </a:r>
            <a:endParaRPr/>
          </a:p>
          <a:p>
            <a:pPr indent="0" lvl="0" marL="0" marR="0" rtl="0" algn="l">
              <a:spcBef>
                <a:spcPts val="0"/>
              </a:spcBef>
              <a:spcAft>
                <a:spcPts val="0"/>
              </a:spcAft>
              <a:buNone/>
            </a:pPr>
            <a:r>
              <a:rPr b="0" lang="en-US" sz="1875">
                <a:solidFill>
                  <a:srgbClr val="52616B"/>
                </a:solidFill>
                <a:latin typeface="Fira Sans"/>
                <a:ea typeface="Fira Sans"/>
                <a:cs typeface="Fira Sans"/>
                <a:sym typeface="Fira Sans"/>
              </a:rPr>
              <a:t>access at large footprints. Bandwidth untested.</a:t>
            </a:r>
            <a:endParaRPr/>
          </a:p>
        </p:txBody>
      </p:sp>
      <p:sp>
        <p:nvSpPr>
          <p:cNvPr id="96" name="Google Shape;96;p3"/>
          <p:cNvSpPr/>
          <p:nvPr/>
        </p:nvSpPr>
        <p:spPr>
          <a:xfrm>
            <a:off x="590550" y="4552950"/>
            <a:ext cx="10953750" cy="9525"/>
          </a:xfrm>
          <a:prstGeom prst="rect">
            <a:avLst/>
          </a:prstGeom>
          <a:solidFill>
            <a:srgbClr val="CCD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590550" y="4743450"/>
            <a:ext cx="1047750" cy="523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75">
                <a:solidFill>
                  <a:srgbClr val="087F83"/>
                </a:solidFill>
                <a:latin typeface="Fira Sans"/>
                <a:ea typeface="Fira Sans"/>
                <a:cs typeface="Fira Sans"/>
                <a:sym typeface="Fira Sans"/>
              </a:rPr>
              <a:t>H3</a:t>
            </a:r>
            <a:endParaRPr/>
          </a:p>
        </p:txBody>
      </p:sp>
      <p:sp>
        <p:nvSpPr>
          <p:cNvPr id="98" name="Google Shape;98;p3"/>
          <p:cNvSpPr/>
          <p:nvPr/>
        </p:nvSpPr>
        <p:spPr>
          <a:xfrm>
            <a:off x="1762125" y="4743450"/>
            <a:ext cx="4000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142330"/>
                </a:solidFill>
                <a:latin typeface="Fira Sans"/>
                <a:ea typeface="Fira Sans"/>
                <a:cs typeface="Fira Sans"/>
                <a:sym typeface="Fira Sans"/>
              </a:rPr>
              <a:t>Stream buffers</a:t>
            </a:r>
            <a:endParaRPr/>
          </a:p>
        </p:txBody>
      </p:sp>
      <p:sp>
        <p:nvSpPr>
          <p:cNvPr id="99" name="Google Shape;99;p3"/>
          <p:cNvSpPr/>
          <p:nvPr/>
        </p:nvSpPr>
        <p:spPr>
          <a:xfrm>
            <a:off x="6191250" y="4743450"/>
            <a:ext cx="542925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950">
                <a:solidFill>
                  <a:srgbClr val="087F83"/>
                </a:solidFill>
                <a:latin typeface="Fira Sans"/>
                <a:ea typeface="Fira Sans"/>
                <a:cs typeface="Fira Sans"/>
                <a:sym typeface="Fira Sans"/>
              </a:rPr>
              <a:t>Benefit depends on access predictability</a:t>
            </a:r>
            <a:endParaRPr/>
          </a:p>
        </p:txBody>
      </p:sp>
      <p:sp>
        <p:nvSpPr>
          <p:cNvPr id="100" name="Google Shape;100;p3"/>
          <p:cNvSpPr/>
          <p:nvPr/>
        </p:nvSpPr>
        <p:spPr>
          <a:xfrm>
            <a:off x="6191250" y="5200650"/>
            <a:ext cx="5429250" cy="7905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52616B"/>
                </a:solidFill>
                <a:latin typeface="Fira Sans"/>
                <a:ea typeface="Fira Sans"/>
                <a:cs typeface="Fira Sans"/>
                <a:sym typeface="Fira Sans"/>
              </a:rPr>
              <a:t>Sequential gains may weaken when pointer</a:t>
            </a:r>
            <a:endParaRPr/>
          </a:p>
          <a:p>
            <a:pPr indent="0" lvl="0" marL="0" marR="0" rtl="0" algn="l">
              <a:spcBef>
                <a:spcPts val="0"/>
              </a:spcBef>
              <a:spcAft>
                <a:spcPts val="0"/>
              </a:spcAft>
              <a:buNone/>
            </a:pPr>
            <a:r>
              <a:rPr b="0" lang="en-US" sz="1875">
                <a:solidFill>
                  <a:srgbClr val="52616B"/>
                </a:solidFill>
                <a:latin typeface="Fira Sans"/>
                <a:ea typeface="Fira Sans"/>
                <a:cs typeface="Fira Sans"/>
                <a:sym typeface="Fira Sans"/>
              </a:rPr>
              <a:t>chasing makes future addresses unpredictable.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105" name="Shape 105"/>
        <p:cNvGrpSpPr/>
        <p:nvPr/>
      </p:nvGrpSpPr>
      <p:grpSpPr>
        <a:xfrm>
          <a:off x="0" y="0"/>
          <a:ext cx="0" cy="0"/>
          <a:chOff x="0" y="0"/>
          <a:chExt cx="0" cy="0"/>
        </a:xfrm>
      </p:grpSpPr>
      <p:sp>
        <p:nvSpPr>
          <p:cNvPr id="106" name="Google Shape;106;p4"/>
          <p:cNvSpPr/>
          <p:nvPr/>
        </p:nvSpPr>
        <p:spPr>
          <a:xfrm>
            <a:off x="590550" y="304800"/>
            <a:ext cx="100012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087F83"/>
                </a:solidFill>
                <a:latin typeface="Fira Sans"/>
                <a:ea typeface="Fira Sans"/>
                <a:cs typeface="Fira Sans"/>
                <a:sym typeface="Fira Sans"/>
              </a:rPr>
              <a:t>01 / SHIP++ STORAGE MODEL</a:t>
            </a:r>
            <a:endParaRPr/>
          </a:p>
        </p:txBody>
      </p:sp>
      <p:sp>
        <p:nvSpPr>
          <p:cNvPr id="107" name="Google Shape;107;p4"/>
          <p:cNvSpPr/>
          <p:nvPr/>
        </p:nvSpPr>
        <p:spPr>
          <a:xfrm>
            <a:off x="571500" y="8001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42330"/>
                </a:solidFill>
                <a:latin typeface="Fira Sans"/>
                <a:ea typeface="Fira Sans"/>
                <a:cs typeface="Fira Sans"/>
                <a:sym typeface="Fira Sans"/>
              </a:rPr>
              <a:t>More metadata, a smaller share of the cache</a:t>
            </a:r>
            <a:endParaRPr/>
          </a:p>
        </p:txBody>
      </p:sp>
      <p:sp>
        <p:nvSpPr>
          <p:cNvPr id="108" name="Google Shape;108;p4"/>
          <p:cNvSpPr/>
          <p:nvPr/>
        </p:nvSpPr>
        <p:spPr>
          <a:xfrm>
            <a:off x="590550" y="6429375"/>
            <a:ext cx="11010900" cy="9525"/>
          </a:xfrm>
          <a:prstGeom prst="rect">
            <a:avLst/>
          </a:prstGeom>
          <a:solidFill>
            <a:srgbClr val="CCD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590550" y="6524625"/>
            <a:ext cx="6191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2616B"/>
                </a:solidFill>
                <a:latin typeface="Fira Sans"/>
                <a:ea typeface="Fira Sans"/>
                <a:cs typeface="Fira Sans"/>
                <a:sym typeface="Fira Sans"/>
              </a:rPr>
              <a:t>ECE 592  /  GROUP G</a:t>
            </a:r>
            <a:endParaRPr/>
          </a:p>
        </p:txBody>
      </p:sp>
      <p:sp>
        <p:nvSpPr>
          <p:cNvPr id="110" name="Google Shape;110;p4"/>
          <p:cNvSpPr/>
          <p:nvPr/>
        </p:nvSpPr>
        <p:spPr>
          <a:xfrm>
            <a:off x="11115675" y="6505575"/>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52616B"/>
                </a:solidFill>
                <a:latin typeface="Fira Sans"/>
                <a:ea typeface="Fira Sans"/>
                <a:cs typeface="Fira Sans"/>
                <a:sym typeface="Fira Sans"/>
              </a:rPr>
              <a:t>04</a:t>
            </a:r>
            <a:endParaRPr/>
          </a:p>
        </p:txBody>
      </p:sp>
      <p:sp>
        <p:nvSpPr>
          <p:cNvPr id="111" name="Google Shape;111;p4"/>
          <p:cNvSpPr/>
          <p:nvPr/>
        </p:nvSpPr>
        <p:spPr>
          <a:xfrm>
            <a:off x="609600" y="1952625"/>
            <a:ext cx="409575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875">
                <a:solidFill>
                  <a:srgbClr val="142330"/>
                </a:solidFill>
                <a:latin typeface="Fira Sans"/>
                <a:ea typeface="Fira Sans"/>
                <a:cs typeface="Fira Sans"/>
                <a:sym typeface="Fira Sans"/>
              </a:rPr>
              <a:t>20 KiB</a:t>
            </a:r>
            <a:endParaRPr/>
          </a:p>
        </p:txBody>
      </p:sp>
      <p:sp>
        <p:nvSpPr>
          <p:cNvPr id="112" name="Google Shape;112;p4"/>
          <p:cNvSpPr/>
          <p:nvPr/>
        </p:nvSpPr>
        <p:spPr>
          <a:xfrm>
            <a:off x="666750" y="2800350"/>
            <a:ext cx="409575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52616B"/>
                </a:solidFill>
                <a:latin typeface="Fira Sans"/>
                <a:ea typeface="Fira Sans"/>
                <a:cs typeface="Fira Sans"/>
                <a:sym typeface="Fira Sans"/>
              </a:rPr>
              <a:t>at a 2 MiB LLC</a:t>
            </a:r>
            <a:endParaRPr/>
          </a:p>
        </p:txBody>
      </p:sp>
      <p:sp>
        <p:nvSpPr>
          <p:cNvPr id="113" name="Google Shape;113;p4"/>
          <p:cNvSpPr/>
          <p:nvPr/>
        </p:nvSpPr>
        <p:spPr>
          <a:xfrm>
            <a:off x="609600" y="3619500"/>
            <a:ext cx="409575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875">
                <a:solidFill>
                  <a:srgbClr val="087F83"/>
                </a:solidFill>
                <a:latin typeface="Fira Sans"/>
                <a:ea typeface="Fira Sans"/>
                <a:cs typeface="Fira Sans"/>
                <a:sym typeface="Fira Sans"/>
              </a:rPr>
              <a:t>200 KiB</a:t>
            </a:r>
            <a:endParaRPr/>
          </a:p>
        </p:txBody>
      </p:sp>
      <p:sp>
        <p:nvSpPr>
          <p:cNvPr id="114" name="Google Shape;114;p4"/>
          <p:cNvSpPr/>
          <p:nvPr/>
        </p:nvSpPr>
        <p:spPr>
          <a:xfrm>
            <a:off x="666750" y="4467225"/>
            <a:ext cx="409575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52616B"/>
                </a:solidFill>
                <a:latin typeface="Fira Sans"/>
                <a:ea typeface="Fira Sans"/>
                <a:cs typeface="Fira Sans"/>
                <a:sym typeface="Fira Sans"/>
              </a:rPr>
              <a:t>at a 32 MiB LLC</a:t>
            </a:r>
            <a:endParaRPr/>
          </a:p>
        </p:txBody>
      </p:sp>
      <p:sp>
        <p:nvSpPr>
          <p:cNvPr id="115" name="Google Shape;115;p4"/>
          <p:cNvSpPr/>
          <p:nvPr/>
        </p:nvSpPr>
        <p:spPr>
          <a:xfrm>
            <a:off x="666750" y="5381625"/>
            <a:ext cx="4572000" cy="428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25">
                <a:solidFill>
                  <a:srgbClr val="142330"/>
                </a:solidFill>
                <a:latin typeface="Fira Sans"/>
                <a:ea typeface="Fira Sans"/>
                <a:cs typeface="Fira Sans"/>
                <a:sym typeface="Fira Sans"/>
              </a:rPr>
              <a:t>3 bits per line + 8 KiB fixed</a:t>
            </a:r>
            <a:endParaRPr/>
          </a:p>
        </p:txBody>
      </p:sp>
      <p:sp>
        <p:nvSpPr>
          <p:cNvPr id="116" name="Google Shape;116;p4"/>
          <p:cNvSpPr/>
          <p:nvPr/>
        </p:nvSpPr>
        <p:spPr>
          <a:xfrm>
            <a:off x="5810250" y="1847850"/>
            <a:ext cx="57150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950">
                <a:solidFill>
                  <a:srgbClr val="142330"/>
                </a:solidFill>
                <a:latin typeface="Fira Sans"/>
                <a:ea typeface="Fira Sans"/>
                <a:cs typeface="Fira Sans"/>
                <a:sym typeface="Fira Sans"/>
              </a:rPr>
              <a:t>Policy storage / LLC data capacity</a:t>
            </a:r>
            <a:endParaRPr/>
          </a:p>
        </p:txBody>
      </p:sp>
      <p:graphicFrame>
        <p:nvGraphicFramePr>
          <p:cNvPr id="117" name="Google Shape;117;p4"/>
          <p:cNvGraphicFramePr/>
          <p:nvPr/>
        </p:nvGraphicFramePr>
        <p:xfrm>
          <a:off x="5619750" y="2266950"/>
          <a:ext cx="5905500" cy="3257550"/>
        </p:xfrm>
        <a:graphic>
          <a:graphicData uri="http://schemas.openxmlformats.org/drawingml/2006/chart">
            <c:chart r:id="rId3"/>
          </a:graphicData>
        </a:graphic>
      </p:graphicFrame>
      <p:sp>
        <p:nvSpPr>
          <p:cNvPr id="118" name="Google Shape;118;p4"/>
          <p:cNvSpPr/>
          <p:nvPr/>
        </p:nvSpPr>
        <p:spPr>
          <a:xfrm>
            <a:off x="5810250" y="5667375"/>
            <a:ext cx="5715000" cy="628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50">
                <a:solidFill>
                  <a:srgbClr val="52616B"/>
                </a:solidFill>
                <a:latin typeface="Fira Sans"/>
                <a:ea typeface="Fira Sans"/>
                <a:cs typeface="Fira Sans"/>
                <a:sym typeface="Fira Sans"/>
              </a:rPr>
              <a:t>Calculation assumes fixed predictor and sample sizes.</a:t>
            </a:r>
            <a:endParaRPr/>
          </a:p>
          <a:p>
            <a:pPr indent="0" lvl="0" marL="0" marR="0" rtl="0" algn="l">
              <a:spcBef>
                <a:spcPts val="0"/>
              </a:spcBef>
              <a:spcAft>
                <a:spcPts val="0"/>
              </a:spcAft>
              <a:buNone/>
            </a:pPr>
            <a:r>
              <a:rPr b="0" lang="en-US" sz="1650">
                <a:solidFill>
                  <a:srgbClr val="52616B"/>
                </a:solidFill>
                <a:latin typeface="Fira Sans"/>
                <a:ea typeface="Fira Sans"/>
                <a:cs typeface="Fira Sans"/>
                <a:sym typeface="Fira Sans"/>
              </a:rPr>
              <a:t>It does not establish a speedup or energy saving.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123" name="Shape 123"/>
        <p:cNvGrpSpPr/>
        <p:nvPr/>
      </p:nvGrpSpPr>
      <p:grpSpPr>
        <a:xfrm>
          <a:off x="0" y="0"/>
          <a:ext cx="0" cy="0"/>
          <a:chOff x="0" y="0"/>
          <a:chExt cx="0" cy="0"/>
        </a:xfrm>
      </p:grpSpPr>
      <p:sp>
        <p:nvSpPr>
          <p:cNvPr id="124" name="Google Shape;124;p5"/>
          <p:cNvSpPr/>
          <p:nvPr/>
        </p:nvSpPr>
        <p:spPr>
          <a:xfrm>
            <a:off x="590550" y="304800"/>
            <a:ext cx="100012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087F83"/>
                </a:solidFill>
                <a:latin typeface="Fira Sans"/>
                <a:ea typeface="Fira Sans"/>
                <a:cs typeface="Fira Sans"/>
                <a:sym typeface="Fira Sans"/>
              </a:rPr>
              <a:t>02 / EXPERIMENTAL SETUPS</a:t>
            </a:r>
            <a:endParaRPr/>
          </a:p>
        </p:txBody>
      </p:sp>
      <p:sp>
        <p:nvSpPr>
          <p:cNvPr id="125" name="Google Shape;125;p5"/>
          <p:cNvSpPr/>
          <p:nvPr/>
        </p:nvSpPr>
        <p:spPr>
          <a:xfrm>
            <a:off x="571500" y="8001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42330"/>
                </a:solidFill>
                <a:latin typeface="Fira Sans"/>
                <a:ea typeface="Fira Sans"/>
                <a:cs typeface="Fira Sans"/>
                <a:sym typeface="Fira Sans"/>
              </a:rPr>
              <a:t>Three ways to read cache activity</a:t>
            </a:r>
            <a:endParaRPr/>
          </a:p>
        </p:txBody>
      </p:sp>
      <p:sp>
        <p:nvSpPr>
          <p:cNvPr id="126" name="Google Shape;126;p5"/>
          <p:cNvSpPr/>
          <p:nvPr/>
        </p:nvSpPr>
        <p:spPr>
          <a:xfrm>
            <a:off x="590550" y="6429375"/>
            <a:ext cx="11010900" cy="9525"/>
          </a:xfrm>
          <a:prstGeom prst="rect">
            <a:avLst/>
          </a:prstGeom>
          <a:solidFill>
            <a:srgbClr val="CCD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590550" y="6524625"/>
            <a:ext cx="6191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2616B"/>
                </a:solidFill>
                <a:latin typeface="Fira Sans"/>
                <a:ea typeface="Fira Sans"/>
                <a:cs typeface="Fira Sans"/>
                <a:sym typeface="Fira Sans"/>
              </a:rPr>
              <a:t>ECE 592  /  GROUP G</a:t>
            </a:r>
            <a:endParaRPr/>
          </a:p>
        </p:txBody>
      </p:sp>
      <p:sp>
        <p:nvSpPr>
          <p:cNvPr id="128" name="Google Shape;128;p5"/>
          <p:cNvSpPr/>
          <p:nvPr/>
        </p:nvSpPr>
        <p:spPr>
          <a:xfrm>
            <a:off x="11115675" y="6505575"/>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52616B"/>
                </a:solidFill>
                <a:latin typeface="Fira Sans"/>
                <a:ea typeface="Fira Sans"/>
                <a:cs typeface="Fira Sans"/>
                <a:sym typeface="Fira Sans"/>
              </a:rPr>
              <a:t>05</a:t>
            </a:r>
            <a:endParaRPr/>
          </a:p>
        </p:txBody>
      </p:sp>
      <p:graphicFrame>
        <p:nvGraphicFramePr>
          <p:cNvPr id="129" name="Google Shape;129;p5"/>
          <p:cNvGraphicFramePr/>
          <p:nvPr/>
        </p:nvGraphicFramePr>
        <p:xfrm>
          <a:off x="590550" y="1924050"/>
          <a:ext cx="3000000" cy="3000000"/>
        </p:xfrm>
        <a:graphic>
          <a:graphicData uri="http://schemas.openxmlformats.org/drawingml/2006/table">
            <a:tbl>
              <a:tblPr>
                <a:noFill/>
                <a:tableStyleId>{ABE5AA1A-98C8-4D8A-AA7A-78E03AE21ED6}</a:tableStyleId>
              </a:tblPr>
              <a:tblGrid>
                <a:gridCol w="2190750"/>
                <a:gridCol w="4238625"/>
                <a:gridCol w="4562475"/>
              </a:tblGrid>
              <a:tr h="523875">
                <a:tc>
                  <a:txBody>
                    <a:bodyPr/>
                    <a:lstStyle/>
                    <a:p>
                      <a:pPr indent="0" lvl="0" marL="0" marR="0" rtl="0" algn="l">
                        <a:spcBef>
                          <a:spcPts val="0"/>
                        </a:spcBef>
                        <a:spcAft>
                          <a:spcPts val="0"/>
                        </a:spcAft>
                        <a:buClr>
                          <a:srgbClr val="FFFFFF"/>
                        </a:buClr>
                        <a:buSzPts val="1500"/>
                        <a:buFont typeface="Fira Sans"/>
                        <a:buNone/>
                      </a:pPr>
                      <a:r>
                        <a:rPr b="1" lang="en-US" sz="1500" u="none" cap="none" strike="noStrike">
                          <a:solidFill>
                            <a:srgbClr val="FFFFFF"/>
                          </a:solidFill>
                          <a:latin typeface="Fira Sans"/>
                          <a:ea typeface="Fira Sans"/>
                          <a:cs typeface="Fira Sans"/>
                          <a:sym typeface="Fira Sans"/>
                        </a:rPr>
                        <a:t>METHOD</a:t>
                      </a:r>
                      <a:endParaRPr/>
                    </a:p>
                  </a:txBody>
                  <a:tcPr marT="114300" marB="95250" marR="133350" marL="133350">
                    <a:lnL cap="flat" cmpd="sng" w="9525">
                      <a:solidFill>
                        <a:srgbClr val="CCD3D4"/>
                      </a:solidFill>
                      <a:prstDash val="solid"/>
                      <a:round/>
                      <a:headEnd len="sm" w="sm" type="none"/>
                      <a:tailEnd len="sm" w="sm" type="none"/>
                    </a:lnL>
                    <a:lnT cap="flat" cmpd="sng" w="9525">
                      <a:solidFill>
                        <a:srgbClr val="CCD3D4"/>
                      </a:solidFill>
                      <a:prstDash val="solid"/>
                      <a:round/>
                      <a:headEnd len="sm" w="sm" type="none"/>
                      <a:tailEnd len="sm" w="sm" type="none"/>
                    </a:lnT>
                    <a:solidFill>
                      <a:srgbClr val="101E2C"/>
                    </a:solidFill>
                  </a:tcPr>
                </a:tc>
                <a:tc>
                  <a:txBody>
                    <a:bodyPr/>
                    <a:lstStyle/>
                    <a:p>
                      <a:pPr indent="0" lvl="0" marL="0" marR="0" rtl="0" algn="l">
                        <a:spcBef>
                          <a:spcPts val="0"/>
                        </a:spcBef>
                        <a:spcAft>
                          <a:spcPts val="0"/>
                        </a:spcAft>
                        <a:buClr>
                          <a:srgbClr val="FFFFFF"/>
                        </a:buClr>
                        <a:buSzPts val="1500"/>
                        <a:buFont typeface="Fira Sans"/>
                        <a:buNone/>
                      </a:pPr>
                      <a:r>
                        <a:rPr b="1" lang="en-US" sz="1500">
                          <a:solidFill>
                            <a:srgbClr val="FFFFFF"/>
                          </a:solidFill>
                          <a:latin typeface="Fira Sans"/>
                          <a:ea typeface="Fira Sans"/>
                          <a:cs typeface="Fira Sans"/>
                          <a:sym typeface="Fira Sans"/>
                        </a:rPr>
                        <a:t>WHAT THE ATTACKER TIMES</a:t>
                      </a:r>
                      <a:endParaRPr/>
                    </a:p>
                  </a:txBody>
                  <a:tcPr marT="114300" marB="95250" marR="133350" marL="133350">
                    <a:lnT cap="flat" cmpd="sng" w="9525">
                      <a:solidFill>
                        <a:srgbClr val="CCD3D4"/>
                      </a:solidFill>
                      <a:prstDash val="solid"/>
                      <a:round/>
                      <a:headEnd len="sm" w="sm" type="none"/>
                      <a:tailEnd len="sm" w="sm" type="none"/>
                    </a:lnT>
                    <a:solidFill>
                      <a:srgbClr val="101E2C"/>
                    </a:solidFill>
                  </a:tcPr>
                </a:tc>
                <a:tc>
                  <a:txBody>
                    <a:bodyPr/>
                    <a:lstStyle/>
                    <a:p>
                      <a:pPr indent="0" lvl="0" marL="0" marR="0" rtl="0" algn="l">
                        <a:spcBef>
                          <a:spcPts val="0"/>
                        </a:spcBef>
                        <a:spcAft>
                          <a:spcPts val="0"/>
                        </a:spcAft>
                        <a:buClr>
                          <a:srgbClr val="FFFFFF"/>
                        </a:buClr>
                        <a:buSzPts val="1500"/>
                        <a:buFont typeface="Fira Sans"/>
                        <a:buNone/>
                      </a:pPr>
                      <a:r>
                        <a:rPr b="1" lang="en-US" sz="1500">
                          <a:solidFill>
                            <a:srgbClr val="FFFFFF"/>
                          </a:solidFill>
                          <a:latin typeface="Fira Sans"/>
                          <a:ea typeface="Fira Sans"/>
                          <a:cs typeface="Fira Sans"/>
                          <a:sym typeface="Fira Sans"/>
                        </a:rPr>
                        <a:t>EXPERIMENT</a:t>
                      </a:r>
                      <a:endParaRPr/>
                    </a:p>
                  </a:txBody>
                  <a:tcPr marT="114300" marB="95250" marR="133350" marL="133350">
                    <a:lnR cap="flat" cmpd="sng" w="9525">
                      <a:solidFill>
                        <a:srgbClr val="CCD3D4"/>
                      </a:solidFill>
                      <a:prstDash val="solid"/>
                      <a:round/>
                      <a:headEnd len="sm" w="sm" type="none"/>
                      <a:tailEnd len="sm" w="sm" type="none"/>
                    </a:lnR>
                    <a:lnT cap="flat" cmpd="sng" w="9525">
                      <a:solidFill>
                        <a:srgbClr val="CCD3D4"/>
                      </a:solidFill>
                      <a:prstDash val="solid"/>
                      <a:round/>
                      <a:headEnd len="sm" w="sm" type="none"/>
                      <a:tailEnd len="sm" w="sm" type="none"/>
                    </a:lnT>
                    <a:solidFill>
                      <a:srgbClr val="101E2C"/>
                    </a:solidFill>
                  </a:tcPr>
                </a:tc>
              </a:tr>
              <a:tr h="981075">
                <a:tc>
                  <a:txBody>
                    <a:bodyPr/>
                    <a:lstStyle/>
                    <a:p>
                      <a:pPr indent="0" lvl="0" marL="0" marR="0" rtl="0" algn="l">
                        <a:spcBef>
                          <a:spcPts val="0"/>
                        </a:spcBef>
                        <a:spcAft>
                          <a:spcPts val="0"/>
                        </a:spcAft>
                        <a:buClr>
                          <a:srgbClr val="142330"/>
                        </a:buClr>
                        <a:buSzPts val="1875"/>
                        <a:buFont typeface="Fira Sans"/>
                        <a:buNone/>
                      </a:pPr>
                      <a:r>
                        <a:rPr b="1" lang="en-US" sz="1875">
                          <a:solidFill>
                            <a:srgbClr val="142330"/>
                          </a:solidFill>
                          <a:latin typeface="Fira Sans"/>
                          <a:ea typeface="Fira Sans"/>
                          <a:cs typeface="Fira Sans"/>
                          <a:sym typeface="Fira Sans"/>
                        </a:rPr>
                        <a:t>Prime+Probe</a:t>
                      </a:r>
                      <a:endParaRPr/>
                    </a:p>
                  </a:txBody>
                  <a:tcPr marT="114300" marB="95250" marR="133350" marL="133350">
                    <a:lnL cap="flat" cmpd="sng" w="9525">
                      <a:solidFill>
                        <a:srgbClr val="CCD3D4"/>
                      </a:solidFill>
                      <a:prstDash val="solid"/>
                      <a:round/>
                      <a:headEnd len="sm" w="sm" type="none"/>
                      <a:tailEnd len="sm" w="sm" type="none"/>
                    </a:lnL>
                    <a:solidFill>
                      <a:srgbClr val="F5F3ED"/>
                    </a:solidFill>
                  </a:tcPr>
                </a:tc>
                <a:tc>
                  <a:txBody>
                    <a:bodyPr/>
                    <a:lstStyle/>
                    <a:p>
                      <a:pPr indent="0" lvl="0" marL="0" marR="0" rtl="0" algn="l">
                        <a:spcBef>
                          <a:spcPts val="0"/>
                        </a:spcBef>
                        <a:spcAft>
                          <a:spcPts val="0"/>
                        </a:spcAft>
                        <a:buClr>
                          <a:srgbClr val="142330"/>
                        </a:buClr>
                        <a:buSzPts val="1875"/>
                        <a:buFont typeface="Fira Sans"/>
                        <a:buNone/>
                      </a:pPr>
                      <a:r>
                        <a:rPr b="0" lang="en-US" sz="1875">
                          <a:solidFill>
                            <a:srgbClr val="142330"/>
                          </a:solidFill>
                          <a:latin typeface="Fira Sans"/>
                          <a:ea typeface="Fira Sans"/>
                          <a:cs typeface="Fira Sans"/>
                          <a:sym typeface="Fira Sans"/>
                        </a:rPr>
                        <a:t>Reloads of two primed L1 sets</a:t>
                      </a:r>
                      <a:endParaRPr/>
                    </a:p>
                    <a:p>
                      <a:pPr indent="0" lvl="0" marL="0" marR="0" rtl="0" algn="l">
                        <a:spcBef>
                          <a:spcPts val="0"/>
                        </a:spcBef>
                        <a:spcAft>
                          <a:spcPts val="0"/>
                        </a:spcAft>
                        <a:buClr>
                          <a:srgbClr val="142330"/>
                        </a:buClr>
                        <a:buSzPts val="1875"/>
                        <a:buFont typeface="Fira Sans"/>
                        <a:buNone/>
                      </a:pPr>
                      <a:r>
                        <a:rPr b="0" lang="en-US" sz="1875">
                          <a:solidFill>
                            <a:srgbClr val="142330"/>
                          </a:solidFill>
                          <a:latin typeface="Fira Sans"/>
                          <a:ea typeface="Fira Sans"/>
                          <a:cs typeface="Fira Sans"/>
                          <a:sym typeface="Fira Sans"/>
                        </a:rPr>
                        <a:t>after a simulated victim access</a:t>
                      </a:r>
                      <a:endParaRPr/>
                    </a:p>
                  </a:txBody>
                  <a:tcPr marT="114300" marB="95250" marR="133350" marL="133350">
                    <a:solidFill>
                      <a:srgbClr val="F5F3ED"/>
                    </a:solidFill>
                  </a:tcPr>
                </a:tc>
                <a:tc>
                  <a:txBody>
                    <a:bodyPr/>
                    <a:lstStyle/>
                    <a:p>
                      <a:pPr indent="0" lvl="0" marL="0" marR="0" rtl="0" algn="l">
                        <a:spcBef>
                          <a:spcPts val="0"/>
                        </a:spcBef>
                        <a:spcAft>
                          <a:spcPts val="0"/>
                        </a:spcAft>
                        <a:buClr>
                          <a:srgbClr val="142330"/>
                        </a:buClr>
                        <a:buSzPts val="1875"/>
                        <a:buFont typeface="Fira Sans"/>
                        <a:buNone/>
                      </a:pPr>
                      <a:r>
                        <a:rPr b="0" lang="en-US" sz="1875">
                          <a:solidFill>
                            <a:srgbClr val="142330"/>
                          </a:solidFill>
                          <a:latin typeface="Fira Sans"/>
                          <a:ea typeface="Fira Sans"/>
                          <a:cs typeface="Fira Sans"/>
                          <a:sym typeface="Fira Sans"/>
                        </a:rPr>
                        <a:t>Same-process secret-bit test</a:t>
                      </a:r>
                      <a:endParaRPr/>
                    </a:p>
                    <a:p>
                      <a:pPr indent="0" lvl="0" marL="0" marR="0" rtl="0" algn="l">
                        <a:spcBef>
                          <a:spcPts val="0"/>
                        </a:spcBef>
                        <a:spcAft>
                          <a:spcPts val="0"/>
                        </a:spcAft>
                        <a:buClr>
                          <a:srgbClr val="142330"/>
                        </a:buClr>
                        <a:buSzPts val="1875"/>
                        <a:buFont typeface="Fira Sans"/>
                        <a:buNone/>
                      </a:pPr>
                      <a:r>
                        <a:rPr b="0" lang="en-US" sz="1875">
                          <a:solidFill>
                            <a:srgbClr val="142330"/>
                          </a:solidFill>
                          <a:latin typeface="Fira Sans"/>
                          <a:ea typeface="Fira Sans"/>
                          <a:cs typeface="Fira Sans"/>
                          <a:sym typeface="Fira Sans"/>
                        </a:rPr>
                        <a:t>100,000 main trials per host</a:t>
                      </a:r>
                      <a:endParaRPr/>
                    </a:p>
                  </a:txBody>
                  <a:tcPr marT="114300" marB="95250" marR="133350" marL="133350">
                    <a:lnR cap="flat" cmpd="sng" w="9525">
                      <a:solidFill>
                        <a:srgbClr val="CCD3D4"/>
                      </a:solidFill>
                      <a:prstDash val="solid"/>
                      <a:round/>
                      <a:headEnd len="sm" w="sm" type="none"/>
                      <a:tailEnd len="sm" w="sm" type="none"/>
                    </a:lnR>
                    <a:solidFill>
                      <a:srgbClr val="F5F3ED"/>
                    </a:solidFill>
                  </a:tcPr>
                </a:tc>
              </a:tr>
              <a:tr h="981075">
                <a:tc>
                  <a:txBody>
                    <a:bodyPr/>
                    <a:lstStyle/>
                    <a:p>
                      <a:pPr indent="0" lvl="0" marL="0" marR="0" rtl="0" algn="l">
                        <a:spcBef>
                          <a:spcPts val="0"/>
                        </a:spcBef>
                        <a:spcAft>
                          <a:spcPts val="0"/>
                        </a:spcAft>
                        <a:buClr>
                          <a:srgbClr val="142330"/>
                        </a:buClr>
                        <a:buSzPts val="1875"/>
                        <a:buFont typeface="Fira Sans"/>
                        <a:buNone/>
                      </a:pPr>
                      <a:r>
                        <a:rPr b="1" lang="en-US" sz="1875">
                          <a:solidFill>
                            <a:srgbClr val="142330"/>
                          </a:solidFill>
                          <a:latin typeface="Fira Sans"/>
                          <a:ea typeface="Fira Sans"/>
                          <a:cs typeface="Fira Sans"/>
                          <a:sym typeface="Fira Sans"/>
                        </a:rPr>
                        <a:t>Flush+Reload</a:t>
                      </a:r>
                      <a:endParaRPr/>
                    </a:p>
                  </a:txBody>
                  <a:tcPr marT="114300" marB="95250" marR="133350" marL="133350">
                    <a:lnL cap="flat" cmpd="sng" w="9525">
                      <a:solidFill>
                        <a:srgbClr val="CCD3D4"/>
                      </a:solidFill>
                      <a:prstDash val="solid"/>
                      <a:round/>
                      <a:headEnd len="sm" w="sm" type="none"/>
                      <a:tailEnd len="sm" w="sm" type="none"/>
                    </a:lnL>
                    <a:solidFill>
                      <a:srgbClr val="F5F3ED"/>
                    </a:solidFill>
                  </a:tcPr>
                </a:tc>
                <a:tc>
                  <a:txBody>
                    <a:bodyPr/>
                    <a:lstStyle/>
                    <a:p>
                      <a:pPr indent="0" lvl="0" marL="0" marR="0" rtl="0" algn="l">
                        <a:spcBef>
                          <a:spcPts val="0"/>
                        </a:spcBef>
                        <a:spcAft>
                          <a:spcPts val="0"/>
                        </a:spcAft>
                        <a:buClr>
                          <a:srgbClr val="142330"/>
                        </a:buClr>
                        <a:buSzPts val="1875"/>
                        <a:buFont typeface="Fira Sans"/>
                        <a:buNone/>
                      </a:pPr>
                      <a:r>
                        <a:rPr b="0" lang="en-US" sz="1875">
                          <a:solidFill>
                            <a:srgbClr val="142330"/>
                          </a:solidFill>
                          <a:latin typeface="Fira Sans"/>
                          <a:ea typeface="Fira Sans"/>
                          <a:cs typeface="Fira Sans"/>
                          <a:sym typeface="Fira Sans"/>
                        </a:rPr>
                        <a:t>A reload after the benchmark</a:t>
                      </a:r>
                      <a:endParaRPr/>
                    </a:p>
                    <a:p>
                      <a:pPr indent="0" lvl="0" marL="0" marR="0" rtl="0" algn="l">
                        <a:spcBef>
                          <a:spcPts val="0"/>
                        </a:spcBef>
                        <a:spcAft>
                          <a:spcPts val="0"/>
                        </a:spcAft>
                        <a:buClr>
                          <a:srgbClr val="142330"/>
                        </a:buClr>
                        <a:buSzPts val="1875"/>
                        <a:buFont typeface="Fira Sans"/>
                        <a:buNone/>
                      </a:pPr>
                      <a:r>
                        <a:rPr b="0" lang="en-US" sz="1875">
                          <a:solidFill>
                            <a:srgbClr val="142330"/>
                          </a:solidFill>
                          <a:latin typeface="Fira Sans"/>
                          <a:ea typeface="Fira Sans"/>
                          <a:cs typeface="Fira Sans"/>
                          <a:sym typeface="Fira Sans"/>
                        </a:rPr>
                        <a:t>caches or evicts a line</a:t>
                      </a:r>
                      <a:endParaRPr/>
                    </a:p>
                  </a:txBody>
                  <a:tcPr marT="114300" marB="95250" marR="133350" marL="133350">
                    <a:solidFill>
                      <a:srgbClr val="F5F3ED"/>
                    </a:solidFill>
                  </a:tcPr>
                </a:tc>
                <a:tc>
                  <a:txBody>
                    <a:bodyPr/>
                    <a:lstStyle/>
                    <a:p>
                      <a:pPr indent="0" lvl="0" marL="0" marR="0" rtl="0" algn="l">
                        <a:spcBef>
                          <a:spcPts val="0"/>
                        </a:spcBef>
                        <a:spcAft>
                          <a:spcPts val="0"/>
                        </a:spcAft>
                        <a:buClr>
                          <a:srgbClr val="142330"/>
                        </a:buClr>
                        <a:buSzPts val="1875"/>
                        <a:buFont typeface="Fira Sans"/>
                        <a:buNone/>
                      </a:pPr>
                      <a:r>
                        <a:rPr b="0" lang="en-US" sz="1875">
                          <a:solidFill>
                            <a:srgbClr val="142330"/>
                          </a:solidFill>
                          <a:latin typeface="Fira Sans"/>
                          <a:ea typeface="Fira Sans"/>
                          <a:cs typeface="Fira Sans"/>
                          <a:sym typeface="Fira Sans"/>
                        </a:rPr>
                        <a:t>Randomized hit / miss test</a:t>
                      </a:r>
                      <a:endParaRPr/>
                    </a:p>
                    <a:p>
                      <a:pPr indent="0" lvl="0" marL="0" marR="0" rtl="0" algn="l">
                        <a:spcBef>
                          <a:spcPts val="0"/>
                        </a:spcBef>
                        <a:spcAft>
                          <a:spcPts val="0"/>
                        </a:spcAft>
                        <a:buClr>
                          <a:srgbClr val="142330"/>
                        </a:buClr>
                        <a:buSzPts val="1875"/>
                        <a:buFont typeface="Fira Sans"/>
                        <a:buNone/>
                      </a:pPr>
                      <a:r>
                        <a:rPr b="0" lang="en-US" sz="1875">
                          <a:solidFill>
                            <a:srgbClr val="142330"/>
                          </a:solidFill>
                          <a:latin typeface="Fira Sans"/>
                          <a:ea typeface="Fira Sans"/>
                          <a:cs typeface="Fira Sans"/>
                          <a:sym typeface="Fira Sans"/>
                        </a:rPr>
                        <a:t>20,000 trials per host</a:t>
                      </a:r>
                      <a:endParaRPr/>
                    </a:p>
                  </a:txBody>
                  <a:tcPr marT="114300" marB="95250" marR="133350" marL="133350">
                    <a:lnR cap="flat" cmpd="sng" w="9525">
                      <a:solidFill>
                        <a:srgbClr val="CCD3D4"/>
                      </a:solidFill>
                      <a:prstDash val="solid"/>
                      <a:round/>
                      <a:headEnd len="sm" w="sm" type="none"/>
                      <a:tailEnd len="sm" w="sm" type="none"/>
                    </a:lnR>
                    <a:solidFill>
                      <a:srgbClr val="F5F3ED"/>
                    </a:solidFill>
                  </a:tcPr>
                </a:tc>
              </a:tr>
              <a:tr h="981075">
                <a:tc>
                  <a:txBody>
                    <a:bodyPr/>
                    <a:lstStyle/>
                    <a:p>
                      <a:pPr indent="0" lvl="0" marL="0" marR="0" rtl="0" algn="l">
                        <a:spcBef>
                          <a:spcPts val="0"/>
                        </a:spcBef>
                        <a:spcAft>
                          <a:spcPts val="0"/>
                        </a:spcAft>
                        <a:buClr>
                          <a:srgbClr val="142330"/>
                        </a:buClr>
                        <a:buSzPts val="1875"/>
                        <a:buFont typeface="Fira Sans"/>
                        <a:buNone/>
                      </a:pPr>
                      <a:r>
                        <a:rPr b="1" lang="en-US" sz="1875">
                          <a:solidFill>
                            <a:srgbClr val="142330"/>
                          </a:solidFill>
                          <a:latin typeface="Fira Sans"/>
                          <a:ea typeface="Fira Sans"/>
                          <a:cs typeface="Fira Sans"/>
                          <a:sym typeface="Fira Sans"/>
                        </a:rPr>
                        <a:t>Flush+Flush</a:t>
                      </a:r>
                      <a:endParaRPr/>
                    </a:p>
                  </a:txBody>
                  <a:tcPr marT="114300" marB="95250" marR="133350" marL="133350">
                    <a:lnL cap="flat" cmpd="sng" w="9525">
                      <a:solidFill>
                        <a:srgbClr val="CCD3D4"/>
                      </a:solidFill>
                      <a:prstDash val="solid"/>
                      <a:round/>
                      <a:headEnd len="sm" w="sm" type="none"/>
                      <a:tailEnd len="sm" w="sm" type="none"/>
                    </a:lnL>
                    <a:lnB cap="flat" cmpd="sng" w="9525">
                      <a:solidFill>
                        <a:srgbClr val="CCD3D4"/>
                      </a:solidFill>
                      <a:prstDash val="solid"/>
                      <a:round/>
                      <a:headEnd len="sm" w="sm" type="none"/>
                      <a:tailEnd len="sm" w="sm" type="none"/>
                    </a:lnB>
                    <a:solidFill>
                      <a:srgbClr val="F5F3ED"/>
                    </a:solidFill>
                  </a:tcPr>
                </a:tc>
                <a:tc>
                  <a:txBody>
                    <a:bodyPr/>
                    <a:lstStyle/>
                    <a:p>
                      <a:pPr indent="0" lvl="0" marL="0" marR="0" rtl="0" algn="l">
                        <a:spcBef>
                          <a:spcPts val="0"/>
                        </a:spcBef>
                        <a:spcAft>
                          <a:spcPts val="0"/>
                        </a:spcAft>
                        <a:buClr>
                          <a:srgbClr val="142330"/>
                        </a:buClr>
                        <a:buSzPts val="1875"/>
                        <a:buFont typeface="Fira Sans"/>
                        <a:buNone/>
                      </a:pPr>
                      <a:r>
                        <a:rPr b="0" lang="en-US" sz="1875">
                          <a:solidFill>
                            <a:srgbClr val="142330"/>
                          </a:solidFill>
                          <a:latin typeface="Fira Sans"/>
                          <a:ea typeface="Fira Sans"/>
                          <a:cs typeface="Fira Sans"/>
                          <a:sym typeface="Fira Sans"/>
                        </a:rPr>
                        <a:t>The flush instruction on a</a:t>
                      </a:r>
                      <a:endParaRPr/>
                    </a:p>
                    <a:p>
                      <a:pPr indent="0" lvl="0" marL="0" marR="0" rtl="0" algn="l">
                        <a:spcBef>
                          <a:spcPts val="0"/>
                        </a:spcBef>
                        <a:spcAft>
                          <a:spcPts val="0"/>
                        </a:spcAft>
                        <a:buClr>
                          <a:srgbClr val="142330"/>
                        </a:buClr>
                        <a:buSzPts val="1875"/>
                        <a:buFont typeface="Fira Sans"/>
                        <a:buNone/>
                      </a:pPr>
                      <a:r>
                        <a:rPr b="0" lang="en-US" sz="1875">
                          <a:solidFill>
                            <a:srgbClr val="142330"/>
                          </a:solidFill>
                          <a:latin typeface="Fira Sans"/>
                          <a:ea typeface="Fira Sans"/>
                          <a:cs typeface="Fira Sans"/>
                          <a:sym typeface="Fira Sans"/>
                        </a:rPr>
                        <a:t>cached or uncached line</a:t>
                      </a:r>
                      <a:endParaRPr/>
                    </a:p>
                  </a:txBody>
                  <a:tcPr marT="114300" marB="95250" marR="133350" marL="133350">
                    <a:lnB cap="flat" cmpd="sng" w="9525">
                      <a:solidFill>
                        <a:srgbClr val="CCD3D4"/>
                      </a:solidFill>
                      <a:prstDash val="solid"/>
                      <a:round/>
                      <a:headEnd len="sm" w="sm" type="none"/>
                      <a:tailEnd len="sm" w="sm" type="none"/>
                    </a:lnB>
                    <a:solidFill>
                      <a:srgbClr val="F5F3ED"/>
                    </a:solidFill>
                  </a:tcPr>
                </a:tc>
                <a:tc>
                  <a:txBody>
                    <a:bodyPr/>
                    <a:lstStyle/>
                    <a:p>
                      <a:pPr indent="0" lvl="0" marL="0" marR="0" rtl="0" algn="l">
                        <a:spcBef>
                          <a:spcPts val="0"/>
                        </a:spcBef>
                        <a:spcAft>
                          <a:spcPts val="0"/>
                        </a:spcAft>
                        <a:buClr>
                          <a:srgbClr val="142330"/>
                        </a:buClr>
                        <a:buSzPts val="1875"/>
                        <a:buFont typeface="Fira Sans"/>
                        <a:buNone/>
                      </a:pPr>
                      <a:r>
                        <a:rPr b="0" lang="en-US" sz="1875">
                          <a:solidFill>
                            <a:srgbClr val="142330"/>
                          </a:solidFill>
                          <a:latin typeface="Fira Sans"/>
                          <a:ea typeface="Fira Sans"/>
                          <a:cs typeface="Fira Sans"/>
                          <a:sym typeface="Fira Sans"/>
                        </a:rPr>
                        <a:t>Single and split-thread variants</a:t>
                      </a:r>
                      <a:endParaRPr/>
                    </a:p>
                    <a:p>
                      <a:pPr indent="0" lvl="0" marL="0" marR="0" rtl="0" algn="l">
                        <a:spcBef>
                          <a:spcPts val="0"/>
                        </a:spcBef>
                        <a:spcAft>
                          <a:spcPts val="0"/>
                        </a:spcAft>
                        <a:buClr>
                          <a:srgbClr val="142330"/>
                        </a:buClr>
                        <a:buSzPts val="1875"/>
                        <a:buFont typeface="Fira Sans"/>
                        <a:buNone/>
                      </a:pPr>
                      <a:r>
                        <a:rPr b="0" lang="en-US" sz="1875">
                          <a:solidFill>
                            <a:srgbClr val="142330"/>
                          </a:solidFill>
                          <a:latin typeface="Fira Sans"/>
                          <a:ea typeface="Fira Sans"/>
                          <a:cs typeface="Fira Sans"/>
                          <a:sym typeface="Fira Sans"/>
                        </a:rPr>
                        <a:t>Usually 10,000 test trials</a:t>
                      </a:r>
                      <a:endParaRPr/>
                    </a:p>
                  </a:txBody>
                  <a:tcPr marT="114300" marB="95250" marR="133350" marL="133350">
                    <a:lnR cap="flat" cmpd="sng" w="9525">
                      <a:solidFill>
                        <a:srgbClr val="CCD3D4"/>
                      </a:solidFill>
                      <a:prstDash val="solid"/>
                      <a:round/>
                      <a:headEnd len="sm" w="sm" type="none"/>
                      <a:tailEnd len="sm" w="sm" type="none"/>
                    </a:lnR>
                    <a:lnB cap="flat" cmpd="sng" w="9525">
                      <a:solidFill>
                        <a:srgbClr val="CCD3D4"/>
                      </a:solidFill>
                      <a:prstDash val="solid"/>
                      <a:round/>
                      <a:headEnd len="sm" w="sm" type="none"/>
                      <a:tailEnd len="sm" w="sm" type="none"/>
                    </a:lnB>
                    <a:solidFill>
                      <a:srgbClr val="F5F3ED"/>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134" name="Shape 134"/>
        <p:cNvGrpSpPr/>
        <p:nvPr/>
      </p:nvGrpSpPr>
      <p:grpSpPr>
        <a:xfrm>
          <a:off x="0" y="0"/>
          <a:ext cx="0" cy="0"/>
          <a:chOff x="0" y="0"/>
          <a:chExt cx="0" cy="0"/>
        </a:xfrm>
      </p:grpSpPr>
      <p:sp>
        <p:nvSpPr>
          <p:cNvPr id="135" name="Google Shape;135;p6"/>
          <p:cNvSpPr/>
          <p:nvPr/>
        </p:nvSpPr>
        <p:spPr>
          <a:xfrm>
            <a:off x="590550" y="304800"/>
            <a:ext cx="100012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087F83"/>
                </a:solidFill>
                <a:latin typeface="Fira Sans"/>
                <a:ea typeface="Fira Sans"/>
                <a:cs typeface="Fira Sans"/>
                <a:sym typeface="Fira Sans"/>
              </a:rPr>
              <a:t>02 / PRIME+PROBE</a:t>
            </a:r>
            <a:endParaRPr/>
          </a:p>
        </p:txBody>
      </p:sp>
      <p:sp>
        <p:nvSpPr>
          <p:cNvPr id="136" name="Google Shape;136;p6"/>
          <p:cNvSpPr/>
          <p:nvPr/>
        </p:nvSpPr>
        <p:spPr>
          <a:xfrm>
            <a:off x="571500" y="8001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42330"/>
                </a:solidFill>
                <a:latin typeface="Fira Sans"/>
                <a:ea typeface="Fira Sans"/>
                <a:cs typeface="Fira Sans"/>
                <a:sym typeface="Fira Sans"/>
              </a:rPr>
              <a:t>Six hosts separated the secret bit clearly</a:t>
            </a:r>
            <a:endParaRPr/>
          </a:p>
        </p:txBody>
      </p:sp>
      <p:sp>
        <p:nvSpPr>
          <p:cNvPr id="137" name="Google Shape;137;p6"/>
          <p:cNvSpPr/>
          <p:nvPr/>
        </p:nvSpPr>
        <p:spPr>
          <a:xfrm>
            <a:off x="590550" y="6429375"/>
            <a:ext cx="11010900" cy="9525"/>
          </a:xfrm>
          <a:prstGeom prst="rect">
            <a:avLst/>
          </a:prstGeom>
          <a:solidFill>
            <a:srgbClr val="CCD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590550" y="6524625"/>
            <a:ext cx="6191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2616B"/>
                </a:solidFill>
                <a:latin typeface="Fira Sans"/>
                <a:ea typeface="Fira Sans"/>
                <a:cs typeface="Fira Sans"/>
                <a:sym typeface="Fira Sans"/>
              </a:rPr>
              <a:t>ECE 592  /  GROUP G</a:t>
            </a:r>
            <a:endParaRPr/>
          </a:p>
        </p:txBody>
      </p:sp>
      <p:sp>
        <p:nvSpPr>
          <p:cNvPr id="139" name="Google Shape;139;p6"/>
          <p:cNvSpPr/>
          <p:nvPr/>
        </p:nvSpPr>
        <p:spPr>
          <a:xfrm>
            <a:off x="11115675" y="6505575"/>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52616B"/>
                </a:solidFill>
                <a:latin typeface="Fira Sans"/>
                <a:ea typeface="Fira Sans"/>
                <a:cs typeface="Fira Sans"/>
                <a:sym typeface="Fira Sans"/>
              </a:rPr>
              <a:t>06</a:t>
            </a:r>
            <a:endParaRPr/>
          </a:p>
        </p:txBody>
      </p:sp>
      <p:sp>
        <p:nvSpPr>
          <p:cNvPr id="140" name="Google Shape;140;p6"/>
          <p:cNvSpPr/>
          <p:nvPr/>
        </p:nvSpPr>
        <p:spPr>
          <a:xfrm>
            <a:off x="609600" y="1762125"/>
            <a:ext cx="571500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350">
                <a:solidFill>
                  <a:srgbClr val="087F83"/>
                </a:solidFill>
                <a:latin typeface="Fira Sans"/>
                <a:ea typeface="Fira Sans"/>
                <a:cs typeface="Fira Sans"/>
                <a:sym typeface="Fira Sans"/>
              </a:rPr>
              <a:t>94.1–99.9%</a:t>
            </a:r>
            <a:endParaRPr/>
          </a:p>
        </p:txBody>
      </p:sp>
      <p:sp>
        <p:nvSpPr>
          <p:cNvPr id="141" name="Google Shape;141;p6"/>
          <p:cNvSpPr/>
          <p:nvPr/>
        </p:nvSpPr>
        <p:spPr>
          <a:xfrm>
            <a:off x="6572250" y="2019300"/>
            <a:ext cx="4762500" cy="428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330"/>
                </a:solidFill>
                <a:latin typeface="Fira Sans"/>
                <a:ea typeface="Fira Sans"/>
                <a:cs typeface="Fira Sans"/>
                <a:sym typeface="Fira Sans"/>
              </a:rPr>
              <a:t>on six hosts</a:t>
            </a:r>
            <a:endParaRPr/>
          </a:p>
        </p:txBody>
      </p:sp>
      <p:graphicFrame>
        <p:nvGraphicFramePr>
          <p:cNvPr id="142" name="Google Shape;142;p6"/>
          <p:cNvGraphicFramePr/>
          <p:nvPr/>
        </p:nvGraphicFramePr>
        <p:xfrm>
          <a:off x="571500" y="2667000"/>
          <a:ext cx="11001375" cy="2714625"/>
        </p:xfrm>
        <a:graphic>
          <a:graphicData uri="http://schemas.openxmlformats.org/drawingml/2006/chart">
            <c:chart r:id="rId3"/>
          </a:graphicData>
        </a:graphic>
      </p:graphicFrame>
      <p:sp>
        <p:nvSpPr>
          <p:cNvPr id="143" name="Google Shape;143;p6"/>
          <p:cNvSpPr/>
          <p:nvPr/>
        </p:nvSpPr>
        <p:spPr>
          <a:xfrm>
            <a:off x="619125" y="5619750"/>
            <a:ext cx="1076325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142330"/>
                </a:solidFill>
                <a:latin typeface="Fira Sans"/>
                <a:ea typeface="Fira Sans"/>
                <a:cs typeface="Fira Sans"/>
                <a:sym typeface="Fira Sans"/>
              </a:rPr>
              <a:t>Skylark: 51.842% accuracy, near the 50% chance level</a:t>
            </a:r>
            <a:endParaRPr/>
          </a:p>
        </p:txBody>
      </p:sp>
      <p:sp>
        <p:nvSpPr>
          <p:cNvPr id="144" name="Google Shape;144;p6"/>
          <p:cNvSpPr/>
          <p:nvPr/>
        </p:nvSpPr>
        <p:spPr>
          <a:xfrm>
            <a:off x="619125" y="6057900"/>
            <a:ext cx="1085850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75">
                <a:solidFill>
                  <a:srgbClr val="52616B"/>
                </a:solidFill>
                <a:latin typeface="Fira Sans"/>
                <a:ea typeface="Fira Sans"/>
                <a:cs typeface="Fira Sans"/>
                <a:sym typeface="Fira Sans"/>
              </a:rPr>
              <a:t>Thunderbird unsupported by this x86 code. Greenforest and Elevation were outside this run.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149" name="Shape 149"/>
        <p:cNvGrpSpPr/>
        <p:nvPr/>
      </p:nvGrpSpPr>
      <p:grpSpPr>
        <a:xfrm>
          <a:off x="0" y="0"/>
          <a:ext cx="0" cy="0"/>
          <a:chOff x="0" y="0"/>
          <a:chExt cx="0" cy="0"/>
        </a:xfrm>
      </p:grpSpPr>
      <p:sp>
        <p:nvSpPr>
          <p:cNvPr id="150" name="Google Shape;150;p7"/>
          <p:cNvSpPr/>
          <p:nvPr/>
        </p:nvSpPr>
        <p:spPr>
          <a:xfrm>
            <a:off x="590550" y="304800"/>
            <a:ext cx="100012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087F83"/>
                </a:solidFill>
                <a:latin typeface="Fira Sans"/>
                <a:ea typeface="Fira Sans"/>
                <a:cs typeface="Fira Sans"/>
                <a:sym typeface="Fira Sans"/>
              </a:rPr>
              <a:t>02 / FLUSH+RELOAD</a:t>
            </a:r>
            <a:endParaRPr/>
          </a:p>
        </p:txBody>
      </p:sp>
      <p:sp>
        <p:nvSpPr>
          <p:cNvPr id="151" name="Google Shape;151;p7"/>
          <p:cNvSpPr/>
          <p:nvPr/>
        </p:nvSpPr>
        <p:spPr>
          <a:xfrm>
            <a:off x="571500" y="8001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42330"/>
                </a:solidFill>
                <a:latin typeface="Fira Sans"/>
                <a:ea typeface="Fira Sans"/>
                <a:cs typeface="Fira Sans"/>
                <a:sym typeface="Fira Sans"/>
              </a:rPr>
              <a:t>Greenforest gave the clearest hit / miss separation</a:t>
            </a:r>
            <a:endParaRPr/>
          </a:p>
        </p:txBody>
      </p:sp>
      <p:sp>
        <p:nvSpPr>
          <p:cNvPr id="152" name="Google Shape;152;p7"/>
          <p:cNvSpPr/>
          <p:nvPr/>
        </p:nvSpPr>
        <p:spPr>
          <a:xfrm>
            <a:off x="590550" y="6429375"/>
            <a:ext cx="11010900" cy="9525"/>
          </a:xfrm>
          <a:prstGeom prst="rect">
            <a:avLst/>
          </a:prstGeom>
          <a:solidFill>
            <a:srgbClr val="CCD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590550" y="6524625"/>
            <a:ext cx="6191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2616B"/>
                </a:solidFill>
                <a:latin typeface="Fira Sans"/>
                <a:ea typeface="Fira Sans"/>
                <a:cs typeface="Fira Sans"/>
                <a:sym typeface="Fira Sans"/>
              </a:rPr>
              <a:t>ECE 592  /  GROUP G</a:t>
            </a:r>
            <a:endParaRPr/>
          </a:p>
        </p:txBody>
      </p:sp>
      <p:sp>
        <p:nvSpPr>
          <p:cNvPr id="154" name="Google Shape;154;p7"/>
          <p:cNvSpPr/>
          <p:nvPr/>
        </p:nvSpPr>
        <p:spPr>
          <a:xfrm>
            <a:off x="11115675" y="6505575"/>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52616B"/>
                </a:solidFill>
                <a:latin typeface="Fira Sans"/>
                <a:ea typeface="Fira Sans"/>
                <a:cs typeface="Fira Sans"/>
                <a:sym typeface="Fira Sans"/>
              </a:rPr>
              <a:t>07</a:t>
            </a:r>
            <a:endParaRPr/>
          </a:p>
        </p:txBody>
      </p:sp>
      <p:sp>
        <p:nvSpPr>
          <p:cNvPr id="155" name="Google Shape;155;p7"/>
          <p:cNvSpPr/>
          <p:nvPr/>
        </p:nvSpPr>
        <p:spPr>
          <a:xfrm>
            <a:off x="619125" y="1762125"/>
            <a:ext cx="523875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800">
                <a:solidFill>
                  <a:srgbClr val="087F83"/>
                </a:solidFill>
                <a:latin typeface="Fira Sans"/>
                <a:ea typeface="Fira Sans"/>
                <a:cs typeface="Fira Sans"/>
                <a:sym typeface="Fira Sans"/>
              </a:rPr>
              <a:t>99.98%</a:t>
            </a:r>
            <a:endParaRPr/>
          </a:p>
        </p:txBody>
      </p:sp>
      <p:sp>
        <p:nvSpPr>
          <p:cNvPr id="156" name="Google Shape;156;p7"/>
          <p:cNvSpPr/>
          <p:nvPr/>
        </p:nvSpPr>
        <p:spPr>
          <a:xfrm>
            <a:off x="4762500" y="2000250"/>
            <a:ext cx="6762750" cy="428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330"/>
                </a:solidFill>
                <a:latin typeface="Fira Sans"/>
                <a:ea typeface="Fira Sans"/>
                <a:cs typeface="Fira Sans"/>
                <a:sym typeface="Fira Sans"/>
              </a:rPr>
              <a:t>Greenforest accuracy</a:t>
            </a:r>
            <a:endParaRPr/>
          </a:p>
        </p:txBody>
      </p:sp>
      <p:graphicFrame>
        <p:nvGraphicFramePr>
          <p:cNvPr id="157" name="Google Shape;157;p7"/>
          <p:cNvGraphicFramePr/>
          <p:nvPr/>
        </p:nvGraphicFramePr>
        <p:xfrm>
          <a:off x="571500" y="2686050"/>
          <a:ext cx="11001375" cy="2667000"/>
        </p:xfrm>
        <a:graphic>
          <a:graphicData uri="http://schemas.openxmlformats.org/drawingml/2006/chart">
            <c:chart r:id="rId3"/>
          </a:graphicData>
        </a:graphic>
      </p:graphicFrame>
      <p:sp>
        <p:nvSpPr>
          <p:cNvPr id="158" name="Google Shape;158;p7"/>
          <p:cNvSpPr/>
          <p:nvPr/>
        </p:nvSpPr>
        <p:spPr>
          <a:xfrm>
            <a:off x="619125" y="5619750"/>
            <a:ext cx="1076325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142330"/>
                </a:solidFill>
                <a:latin typeface="Fira Sans"/>
                <a:ea typeface="Fira Sans"/>
                <a:cs typeface="Fira Sans"/>
                <a:sym typeface="Fira Sans"/>
              </a:rPr>
              <a:t>Greenforest: 22.21 ticks for a hit, 153.51 for a miss</a:t>
            </a:r>
            <a:endParaRPr/>
          </a:p>
        </p:txBody>
      </p:sp>
      <p:sp>
        <p:nvSpPr>
          <p:cNvPr id="159" name="Google Shape;159;p7"/>
          <p:cNvSpPr/>
          <p:nvPr/>
        </p:nvSpPr>
        <p:spPr>
          <a:xfrm>
            <a:off x="619125" y="6057900"/>
            <a:ext cx="1085850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50">
                <a:solidFill>
                  <a:srgbClr val="52616B"/>
                </a:solidFill>
                <a:latin typeface="Fira Sans"/>
                <a:ea typeface="Fira Sans"/>
                <a:cs typeface="Fira Sans"/>
                <a:sym typeface="Fira Sans"/>
              </a:rPr>
              <a:t>Other hosts reached 75.10–81.83% accuracy. Each host used 20,000 randomized trials.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164" name="Shape 164"/>
        <p:cNvGrpSpPr/>
        <p:nvPr/>
      </p:nvGrpSpPr>
      <p:grpSpPr>
        <a:xfrm>
          <a:off x="0" y="0"/>
          <a:ext cx="0" cy="0"/>
          <a:chOff x="0" y="0"/>
          <a:chExt cx="0" cy="0"/>
        </a:xfrm>
      </p:grpSpPr>
      <p:sp>
        <p:nvSpPr>
          <p:cNvPr id="165" name="Google Shape;165;p8"/>
          <p:cNvSpPr/>
          <p:nvPr/>
        </p:nvSpPr>
        <p:spPr>
          <a:xfrm>
            <a:off x="590550" y="304800"/>
            <a:ext cx="100012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087F83"/>
                </a:solidFill>
                <a:latin typeface="Fira Sans"/>
                <a:ea typeface="Fira Sans"/>
                <a:cs typeface="Fira Sans"/>
                <a:sym typeface="Fira Sans"/>
              </a:rPr>
              <a:t>02 / FLUSH+FLUSH</a:t>
            </a:r>
            <a:endParaRPr/>
          </a:p>
        </p:txBody>
      </p:sp>
      <p:sp>
        <p:nvSpPr>
          <p:cNvPr id="166" name="Google Shape;166;p8"/>
          <p:cNvSpPr/>
          <p:nvPr/>
        </p:nvSpPr>
        <p:spPr>
          <a:xfrm>
            <a:off x="571500" y="8001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42330"/>
                </a:solidFill>
                <a:latin typeface="Fira Sans"/>
                <a:ea typeface="Fira Sans"/>
                <a:cs typeface="Fira Sans"/>
                <a:sym typeface="Fira Sans"/>
              </a:rPr>
              <a:t>Warm-up changed the reported results</a:t>
            </a:r>
            <a:endParaRPr/>
          </a:p>
        </p:txBody>
      </p:sp>
      <p:sp>
        <p:nvSpPr>
          <p:cNvPr id="167" name="Google Shape;167;p8"/>
          <p:cNvSpPr/>
          <p:nvPr/>
        </p:nvSpPr>
        <p:spPr>
          <a:xfrm>
            <a:off x="590550" y="6429375"/>
            <a:ext cx="11010900" cy="9525"/>
          </a:xfrm>
          <a:prstGeom prst="rect">
            <a:avLst/>
          </a:prstGeom>
          <a:solidFill>
            <a:srgbClr val="CCD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590550" y="6524625"/>
            <a:ext cx="6191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2616B"/>
                </a:solidFill>
                <a:latin typeface="Fira Sans"/>
                <a:ea typeface="Fira Sans"/>
                <a:cs typeface="Fira Sans"/>
                <a:sym typeface="Fira Sans"/>
              </a:rPr>
              <a:t>ECE 592  /  GROUP G</a:t>
            </a:r>
            <a:endParaRPr/>
          </a:p>
        </p:txBody>
      </p:sp>
      <p:sp>
        <p:nvSpPr>
          <p:cNvPr id="169" name="Google Shape;169;p8"/>
          <p:cNvSpPr/>
          <p:nvPr/>
        </p:nvSpPr>
        <p:spPr>
          <a:xfrm>
            <a:off x="11115675" y="6505575"/>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52616B"/>
                </a:solidFill>
                <a:latin typeface="Fira Sans"/>
                <a:ea typeface="Fira Sans"/>
                <a:cs typeface="Fira Sans"/>
                <a:sym typeface="Fira Sans"/>
              </a:rPr>
              <a:t>08</a:t>
            </a:r>
            <a:endParaRPr/>
          </a:p>
        </p:txBody>
      </p:sp>
      <p:graphicFrame>
        <p:nvGraphicFramePr>
          <p:cNvPr id="170" name="Google Shape;170;p8"/>
          <p:cNvGraphicFramePr/>
          <p:nvPr/>
        </p:nvGraphicFramePr>
        <p:xfrm>
          <a:off x="571500" y="1952625"/>
          <a:ext cx="8048625" cy="3619500"/>
        </p:xfrm>
        <a:graphic>
          <a:graphicData uri="http://schemas.openxmlformats.org/drawingml/2006/chart">
            <c:chart r:id="rId3"/>
          </a:graphicData>
        </a:graphic>
      </p:graphicFrame>
      <p:sp>
        <p:nvSpPr>
          <p:cNvPr id="171" name="Google Shape;171;p8"/>
          <p:cNvSpPr/>
          <p:nvPr/>
        </p:nvSpPr>
        <p:spPr>
          <a:xfrm>
            <a:off x="9048750" y="2000250"/>
            <a:ext cx="257175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175">
                <a:solidFill>
                  <a:srgbClr val="087F83"/>
                </a:solidFill>
                <a:latin typeface="Fira Sans"/>
                <a:ea typeface="Fira Sans"/>
                <a:cs typeface="Fira Sans"/>
                <a:sym typeface="Fira Sans"/>
              </a:rPr>
              <a:t>+10k</a:t>
            </a:r>
            <a:endParaRPr/>
          </a:p>
        </p:txBody>
      </p:sp>
      <p:sp>
        <p:nvSpPr>
          <p:cNvPr id="172" name="Google Shape;172;p8"/>
          <p:cNvSpPr/>
          <p:nvPr/>
        </p:nvSpPr>
        <p:spPr>
          <a:xfrm>
            <a:off x="9096375" y="3000375"/>
            <a:ext cx="247650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25">
                <a:solidFill>
                  <a:srgbClr val="142330"/>
                </a:solidFill>
                <a:latin typeface="Fira Sans"/>
                <a:ea typeface="Fira Sans"/>
                <a:cs typeface="Fira Sans"/>
                <a:sym typeface="Fira Sans"/>
              </a:rPr>
              <a:t>warm-up samples</a:t>
            </a:r>
            <a:endParaRPr/>
          </a:p>
        </p:txBody>
      </p:sp>
      <p:sp>
        <p:nvSpPr>
          <p:cNvPr id="173" name="Google Shape;173;p8"/>
          <p:cNvSpPr/>
          <p:nvPr/>
        </p:nvSpPr>
        <p:spPr>
          <a:xfrm>
            <a:off x="9096375" y="4048125"/>
            <a:ext cx="2476500" cy="1190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52616B"/>
                </a:solidFill>
                <a:latin typeface="Fira Sans"/>
                <a:ea typeface="Fira Sans"/>
                <a:cs typeface="Fira Sans"/>
                <a:sym typeface="Fira Sans"/>
              </a:rPr>
              <a:t>Cold timings were</a:t>
            </a:r>
            <a:endParaRPr/>
          </a:p>
          <a:p>
            <a:pPr indent="0" lvl="0" marL="0" marR="0" rtl="0" algn="l">
              <a:spcBef>
                <a:spcPts val="0"/>
              </a:spcBef>
              <a:spcAft>
                <a:spcPts val="0"/>
              </a:spcAft>
              <a:buNone/>
            </a:pPr>
            <a:r>
              <a:rPr b="0" lang="en-US" sz="2025">
                <a:solidFill>
                  <a:srgbClr val="52616B"/>
                </a:solidFill>
                <a:latin typeface="Fira Sans"/>
                <a:ea typeface="Fira Sans"/>
                <a:cs typeface="Fira Sans"/>
                <a:sym typeface="Fira Sans"/>
              </a:rPr>
              <a:t>about 5–6× higher.</a:t>
            </a:r>
            <a:endParaRPr/>
          </a:p>
        </p:txBody>
      </p:sp>
      <p:sp>
        <p:nvSpPr>
          <p:cNvPr id="174" name="Google Shape;174;p8"/>
          <p:cNvSpPr/>
          <p:nvPr/>
        </p:nvSpPr>
        <p:spPr>
          <a:xfrm>
            <a:off x="619125" y="5724525"/>
            <a:ext cx="1085850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00">
                <a:solidFill>
                  <a:srgbClr val="142330"/>
                </a:solidFill>
                <a:latin typeface="Fira Sans"/>
                <a:ea typeface="Fira Sans"/>
                <a:cs typeface="Fira Sans"/>
                <a:sym typeface="Fira Sans"/>
              </a:rPr>
              <a:t>Thread split still mattered: 48.4–80.7% accuracy across hosts</a:t>
            </a:r>
            <a:endParaRPr/>
          </a:p>
        </p:txBody>
      </p:sp>
      <p:sp>
        <p:nvSpPr>
          <p:cNvPr id="175" name="Google Shape;175;p8"/>
          <p:cNvSpPr/>
          <p:nvPr/>
        </p:nvSpPr>
        <p:spPr>
          <a:xfrm>
            <a:off x="619125" y="6115050"/>
            <a:ext cx="10858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2616B"/>
                </a:solidFill>
                <a:latin typeface="Fira Sans"/>
                <a:ea typeface="Fira Sans"/>
                <a:cs typeface="Fira Sans"/>
                <a:sym typeface="Fira Sans"/>
              </a:rPr>
              <a:t>Elevation’s rerun also used more test samples. These are the reported before / after runs.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180" name="Shape 180"/>
        <p:cNvGrpSpPr/>
        <p:nvPr/>
      </p:nvGrpSpPr>
      <p:grpSpPr>
        <a:xfrm>
          <a:off x="0" y="0"/>
          <a:ext cx="0" cy="0"/>
          <a:chOff x="0" y="0"/>
          <a:chExt cx="0" cy="0"/>
        </a:xfrm>
      </p:grpSpPr>
      <p:sp>
        <p:nvSpPr>
          <p:cNvPr id="181" name="Google Shape;181;p11"/>
          <p:cNvSpPr/>
          <p:nvPr/>
        </p:nvSpPr>
        <p:spPr>
          <a:xfrm>
            <a:off x="590550" y="304800"/>
            <a:ext cx="100012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087F83"/>
                </a:solidFill>
                <a:latin typeface="Fira Sans"/>
                <a:ea typeface="Fira Sans"/>
                <a:cs typeface="Fira Sans"/>
                <a:sym typeface="Fira Sans"/>
              </a:rPr>
              <a:t>03 / PAPER-BASED DEFENSE COMPARISON</a:t>
            </a:r>
            <a:endParaRPr/>
          </a:p>
        </p:txBody>
      </p:sp>
      <p:sp>
        <p:nvSpPr>
          <p:cNvPr id="182" name="Google Shape;182;p11"/>
          <p:cNvSpPr/>
          <p:nvPr/>
        </p:nvSpPr>
        <p:spPr>
          <a:xfrm>
            <a:off x="571500" y="8001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42330"/>
                </a:solidFill>
                <a:latin typeface="Fira Sans"/>
                <a:ea typeface="Fira Sans"/>
                <a:cs typeface="Fira Sans"/>
                <a:sym typeface="Fira Sans"/>
              </a:rPr>
              <a:t>Defense must match the source of leakage</a:t>
            </a:r>
            <a:endParaRPr/>
          </a:p>
        </p:txBody>
      </p:sp>
      <p:sp>
        <p:nvSpPr>
          <p:cNvPr id="183" name="Google Shape;183;p11"/>
          <p:cNvSpPr/>
          <p:nvPr/>
        </p:nvSpPr>
        <p:spPr>
          <a:xfrm>
            <a:off x="590550" y="6429375"/>
            <a:ext cx="11010900" cy="9525"/>
          </a:xfrm>
          <a:prstGeom prst="rect">
            <a:avLst/>
          </a:prstGeom>
          <a:solidFill>
            <a:srgbClr val="CCD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
          <p:cNvSpPr/>
          <p:nvPr/>
        </p:nvSpPr>
        <p:spPr>
          <a:xfrm>
            <a:off x="590550" y="6524625"/>
            <a:ext cx="6191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2616B"/>
                </a:solidFill>
                <a:latin typeface="Fira Sans"/>
                <a:ea typeface="Fira Sans"/>
                <a:cs typeface="Fira Sans"/>
                <a:sym typeface="Fira Sans"/>
              </a:rPr>
              <a:t>ECE 592  /  GROUP G</a:t>
            </a:r>
            <a:endParaRPr/>
          </a:p>
        </p:txBody>
      </p:sp>
      <p:sp>
        <p:nvSpPr>
          <p:cNvPr id="185" name="Google Shape;185;p11"/>
          <p:cNvSpPr/>
          <p:nvPr/>
        </p:nvSpPr>
        <p:spPr>
          <a:xfrm>
            <a:off x="11115675" y="6505575"/>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52616B"/>
                </a:solidFill>
                <a:latin typeface="Fira Sans"/>
                <a:ea typeface="Fira Sans"/>
                <a:cs typeface="Fira Sans"/>
                <a:sym typeface="Fira Sans"/>
              </a:rPr>
              <a:t>11</a:t>
            </a:r>
            <a:endParaRPr/>
          </a:p>
        </p:txBody>
      </p:sp>
      <p:graphicFrame>
        <p:nvGraphicFramePr>
          <p:cNvPr id="186" name="Google Shape;186;p11"/>
          <p:cNvGraphicFramePr/>
          <p:nvPr/>
        </p:nvGraphicFramePr>
        <p:xfrm>
          <a:off x="590550" y="1952625"/>
          <a:ext cx="3000000" cy="3000000"/>
        </p:xfrm>
        <a:graphic>
          <a:graphicData uri="http://schemas.openxmlformats.org/drawingml/2006/table">
            <a:tbl>
              <a:tblPr>
                <a:noFill/>
                <a:tableStyleId>{ABE5AA1A-98C8-4D8A-AA7A-78E03AE21ED6}</a:tableStyleId>
              </a:tblPr>
              <a:tblGrid>
                <a:gridCol w="2000250"/>
                <a:gridCol w="2952750"/>
                <a:gridCol w="3181350"/>
                <a:gridCol w="2857500"/>
              </a:tblGrid>
              <a:tr h="542925">
                <a:tc>
                  <a:txBody>
                    <a:bodyPr/>
                    <a:lstStyle/>
                    <a:p>
                      <a:pPr indent="0" lvl="0" marL="0" marR="0" rtl="0" algn="l">
                        <a:spcBef>
                          <a:spcPts val="0"/>
                        </a:spcBef>
                        <a:spcAft>
                          <a:spcPts val="0"/>
                        </a:spcAft>
                        <a:buClr>
                          <a:srgbClr val="FFFFFF"/>
                        </a:buClr>
                        <a:buSzPts val="1500"/>
                        <a:buFont typeface="Fira Sans"/>
                        <a:buNone/>
                      </a:pPr>
                      <a:r>
                        <a:rPr b="1" lang="en-US" sz="1500">
                          <a:solidFill>
                            <a:srgbClr val="FFFFFF"/>
                          </a:solidFill>
                          <a:latin typeface="Fira Sans"/>
                          <a:ea typeface="Fira Sans"/>
                          <a:cs typeface="Fira Sans"/>
                          <a:sym typeface="Fira Sans"/>
                        </a:rPr>
                        <a:t>DEFENSE</a:t>
                      </a:r>
                      <a:endParaRPr/>
                    </a:p>
                  </a:txBody>
                  <a:tcPr marT="114300" marB="95250" marR="133350" marL="133350">
                    <a:lnL cap="flat" cmpd="sng" w="9525">
                      <a:solidFill>
                        <a:srgbClr val="CCD3D4"/>
                      </a:solidFill>
                      <a:prstDash val="solid"/>
                      <a:round/>
                      <a:headEnd len="sm" w="sm" type="none"/>
                      <a:tailEnd len="sm" w="sm" type="none"/>
                    </a:lnL>
                    <a:lnT cap="flat" cmpd="sng" w="9525">
                      <a:solidFill>
                        <a:srgbClr val="CCD3D4"/>
                      </a:solidFill>
                      <a:prstDash val="solid"/>
                      <a:round/>
                      <a:headEnd len="sm" w="sm" type="none"/>
                      <a:tailEnd len="sm" w="sm" type="none"/>
                    </a:lnT>
                    <a:solidFill>
                      <a:srgbClr val="101E2C"/>
                    </a:solidFill>
                  </a:tcPr>
                </a:tc>
                <a:tc>
                  <a:txBody>
                    <a:bodyPr/>
                    <a:lstStyle/>
                    <a:p>
                      <a:pPr indent="0" lvl="0" marL="0" marR="0" rtl="0" algn="l">
                        <a:spcBef>
                          <a:spcPts val="0"/>
                        </a:spcBef>
                        <a:spcAft>
                          <a:spcPts val="0"/>
                        </a:spcAft>
                        <a:buClr>
                          <a:srgbClr val="FFFFFF"/>
                        </a:buClr>
                        <a:buSzPts val="1500"/>
                        <a:buFont typeface="Fira Sans"/>
                        <a:buNone/>
                      </a:pPr>
                      <a:r>
                        <a:rPr b="1" lang="en-US" sz="1500">
                          <a:solidFill>
                            <a:srgbClr val="FFFFFF"/>
                          </a:solidFill>
                          <a:latin typeface="Fira Sans"/>
                          <a:ea typeface="Fira Sans"/>
                          <a:cs typeface="Fira Sans"/>
                          <a:sym typeface="Fira Sans"/>
                        </a:rPr>
                        <a:t>PRIME+PROBE</a:t>
                      </a:r>
                      <a:endParaRPr/>
                    </a:p>
                  </a:txBody>
                  <a:tcPr marT="114300" marB="95250" marR="133350" marL="133350">
                    <a:lnT cap="flat" cmpd="sng" w="9525">
                      <a:solidFill>
                        <a:srgbClr val="CCD3D4"/>
                      </a:solidFill>
                      <a:prstDash val="solid"/>
                      <a:round/>
                      <a:headEnd len="sm" w="sm" type="none"/>
                      <a:tailEnd len="sm" w="sm" type="none"/>
                    </a:lnT>
                    <a:solidFill>
                      <a:srgbClr val="101E2C"/>
                    </a:solidFill>
                  </a:tcPr>
                </a:tc>
                <a:tc>
                  <a:txBody>
                    <a:bodyPr/>
                    <a:lstStyle/>
                    <a:p>
                      <a:pPr indent="0" lvl="0" marL="0" marR="0" rtl="0" algn="l">
                        <a:spcBef>
                          <a:spcPts val="0"/>
                        </a:spcBef>
                        <a:spcAft>
                          <a:spcPts val="0"/>
                        </a:spcAft>
                        <a:buClr>
                          <a:srgbClr val="FFFFFF"/>
                        </a:buClr>
                        <a:buSzPts val="1500"/>
                        <a:buFont typeface="Fira Sans"/>
                        <a:buNone/>
                      </a:pPr>
                      <a:r>
                        <a:rPr b="1" lang="en-US" sz="1500">
                          <a:solidFill>
                            <a:srgbClr val="FFFFFF"/>
                          </a:solidFill>
                          <a:latin typeface="Fira Sans"/>
                          <a:ea typeface="Fira Sans"/>
                          <a:cs typeface="Fira Sans"/>
                          <a:sym typeface="Fira Sans"/>
                        </a:rPr>
                        <a:t>FLUSH+RELOAD</a:t>
                      </a:r>
                      <a:endParaRPr/>
                    </a:p>
                  </a:txBody>
                  <a:tcPr marT="114300" marB="95250" marR="133350" marL="133350">
                    <a:lnT cap="flat" cmpd="sng" w="9525">
                      <a:solidFill>
                        <a:srgbClr val="CCD3D4"/>
                      </a:solidFill>
                      <a:prstDash val="solid"/>
                      <a:round/>
                      <a:headEnd len="sm" w="sm" type="none"/>
                      <a:tailEnd len="sm" w="sm" type="none"/>
                    </a:lnT>
                    <a:solidFill>
                      <a:srgbClr val="101E2C"/>
                    </a:solidFill>
                  </a:tcPr>
                </a:tc>
                <a:tc>
                  <a:txBody>
                    <a:bodyPr/>
                    <a:lstStyle/>
                    <a:p>
                      <a:pPr indent="0" lvl="0" marL="0" marR="0" rtl="0" algn="l">
                        <a:spcBef>
                          <a:spcPts val="0"/>
                        </a:spcBef>
                        <a:spcAft>
                          <a:spcPts val="0"/>
                        </a:spcAft>
                        <a:buClr>
                          <a:srgbClr val="FFFFFF"/>
                        </a:buClr>
                        <a:buSzPts val="1500"/>
                        <a:buFont typeface="Fira Sans"/>
                        <a:buNone/>
                      </a:pPr>
                      <a:r>
                        <a:rPr b="1" lang="en-US" sz="1500">
                          <a:solidFill>
                            <a:srgbClr val="FFFFFF"/>
                          </a:solidFill>
                          <a:latin typeface="Fira Sans"/>
                          <a:ea typeface="Fira Sans"/>
                          <a:cs typeface="Fira Sans"/>
                          <a:sym typeface="Fira Sans"/>
                        </a:rPr>
                        <a:t>MAIN COSTS</a:t>
                      </a:r>
                      <a:endParaRPr/>
                    </a:p>
                  </a:txBody>
                  <a:tcPr marT="114300" marB="95250" marR="133350" marL="133350">
                    <a:lnR cap="flat" cmpd="sng" w="9525">
                      <a:solidFill>
                        <a:srgbClr val="CCD3D4"/>
                      </a:solidFill>
                      <a:prstDash val="solid"/>
                      <a:round/>
                      <a:headEnd len="sm" w="sm" type="none"/>
                      <a:tailEnd len="sm" w="sm" type="none"/>
                    </a:lnR>
                    <a:lnT cap="flat" cmpd="sng" w="9525">
                      <a:solidFill>
                        <a:srgbClr val="CCD3D4"/>
                      </a:solidFill>
                      <a:prstDash val="solid"/>
                      <a:round/>
                      <a:headEnd len="sm" w="sm" type="none"/>
                      <a:tailEnd len="sm" w="sm" type="none"/>
                    </a:lnT>
                    <a:solidFill>
                      <a:srgbClr val="101E2C"/>
                    </a:solidFill>
                  </a:tcPr>
                </a:tc>
              </a:tr>
              <a:tr h="1517200">
                <a:tc>
                  <a:txBody>
                    <a:bodyPr/>
                    <a:lstStyle/>
                    <a:p>
                      <a:pPr indent="0" lvl="0" marL="0" marR="0" rtl="0" algn="l">
                        <a:spcBef>
                          <a:spcPts val="0"/>
                        </a:spcBef>
                        <a:spcAft>
                          <a:spcPts val="0"/>
                        </a:spcAft>
                        <a:buClr>
                          <a:srgbClr val="142330"/>
                        </a:buClr>
                        <a:buSzPts val="1800"/>
                        <a:buFont typeface="Fira Sans"/>
                        <a:buNone/>
                      </a:pPr>
                      <a:r>
                        <a:rPr b="1" lang="en-US" sz="1800">
                          <a:solidFill>
                            <a:srgbClr val="142330"/>
                          </a:solidFill>
                          <a:latin typeface="Fira Sans"/>
                          <a:ea typeface="Fira Sans"/>
                          <a:cs typeface="Fira Sans"/>
                          <a:sym typeface="Fira Sans"/>
                        </a:rPr>
                        <a:t>CEASER</a:t>
                      </a:r>
                      <a:endParaRPr/>
                    </a:p>
                  </a:txBody>
                  <a:tcPr marT="114300" marB="95250" marR="133350" marL="133350">
                    <a:lnL cap="flat" cmpd="sng" w="9525">
                      <a:solidFill>
                        <a:srgbClr val="CCD3D4"/>
                      </a:solidFill>
                      <a:prstDash val="solid"/>
                      <a:round/>
                      <a:headEnd len="sm" w="sm" type="none"/>
                      <a:tailEnd len="sm" w="sm" type="none"/>
                    </a:lnL>
                    <a:solidFill>
                      <a:srgbClr val="F5F3ED"/>
                    </a:solidFill>
                  </a:tcPr>
                </a:tc>
                <a:tc>
                  <a:txBody>
                    <a:bodyPr/>
                    <a:lstStyle/>
                    <a:p>
                      <a:pPr indent="0" lvl="0" marL="0" marR="0" rtl="0" algn="l">
                        <a:spcBef>
                          <a:spcPts val="0"/>
                        </a:spcBef>
                        <a:spcAft>
                          <a:spcPts val="0"/>
                        </a:spcAft>
                        <a:buClr>
                          <a:srgbClr val="142330"/>
                        </a:buClr>
                        <a:buSzPts val="1800"/>
                        <a:buFont typeface="Fira Sans"/>
                        <a:buNone/>
                      </a:pPr>
                      <a:r>
                        <a:rPr b="0" lang="en-US" sz="1800">
                          <a:solidFill>
                            <a:srgbClr val="142330"/>
                          </a:solidFill>
                          <a:latin typeface="Fira Sans"/>
                          <a:ea typeface="Fira Sans"/>
                          <a:cs typeface="Fira Sans"/>
                          <a:sym typeface="Fira Sans"/>
                        </a:rPr>
                        <a:t>Changing mappings</a:t>
                      </a:r>
                      <a:endParaRPr/>
                    </a:p>
                    <a:p>
                      <a:pPr indent="0" lvl="0" marL="0" marR="0" rtl="0" algn="l">
                        <a:spcBef>
                          <a:spcPts val="0"/>
                        </a:spcBef>
                        <a:spcAft>
                          <a:spcPts val="0"/>
                        </a:spcAft>
                        <a:buClr>
                          <a:srgbClr val="142330"/>
                        </a:buClr>
                        <a:buSzPts val="1800"/>
                        <a:buFont typeface="Fira Sans"/>
                        <a:buNone/>
                      </a:pPr>
                      <a:r>
                        <a:rPr b="0" lang="en-US" sz="1800">
                          <a:solidFill>
                            <a:srgbClr val="142330"/>
                          </a:solidFill>
                          <a:latin typeface="Fira Sans"/>
                          <a:ea typeface="Fira Sans"/>
                          <a:cs typeface="Fira Sans"/>
                          <a:sym typeface="Fira Sans"/>
                        </a:rPr>
                        <a:t>disrupts learned</a:t>
                      </a:r>
                      <a:endParaRPr/>
                    </a:p>
                    <a:p>
                      <a:pPr indent="0" lvl="0" marL="0" marR="0" rtl="0" algn="l">
                        <a:spcBef>
                          <a:spcPts val="0"/>
                        </a:spcBef>
                        <a:spcAft>
                          <a:spcPts val="0"/>
                        </a:spcAft>
                        <a:buClr>
                          <a:srgbClr val="142330"/>
                        </a:buClr>
                        <a:buSzPts val="1800"/>
                        <a:buFont typeface="Fira Sans"/>
                        <a:buNone/>
                      </a:pPr>
                      <a:r>
                        <a:rPr b="0" lang="en-US" sz="1800">
                          <a:solidFill>
                            <a:srgbClr val="142330"/>
                          </a:solidFill>
                          <a:latin typeface="Fira Sans"/>
                          <a:ea typeface="Fira Sans"/>
                          <a:cs typeface="Fira Sans"/>
                          <a:sym typeface="Fira Sans"/>
                        </a:rPr>
                        <a:t>conflicts</a:t>
                      </a:r>
                      <a:endParaRPr/>
                    </a:p>
                  </a:txBody>
                  <a:tcPr marT="114300" marB="95250" marR="133350" marL="133350">
                    <a:solidFill>
                      <a:srgbClr val="F5F3ED"/>
                    </a:solidFill>
                  </a:tcPr>
                </a:tc>
                <a:tc>
                  <a:txBody>
                    <a:bodyPr/>
                    <a:lstStyle/>
                    <a:p>
                      <a:pPr indent="0" lvl="0" marL="0" marR="0" rtl="0" algn="l">
                        <a:spcBef>
                          <a:spcPts val="0"/>
                        </a:spcBef>
                        <a:spcAft>
                          <a:spcPts val="0"/>
                        </a:spcAft>
                        <a:buClr>
                          <a:srgbClr val="142330"/>
                        </a:buClr>
                        <a:buSzPts val="1800"/>
                        <a:buFont typeface="Fira Sans"/>
                        <a:buNone/>
                      </a:pPr>
                      <a:r>
                        <a:rPr b="0" lang="en-US" sz="1800">
                          <a:solidFill>
                            <a:srgbClr val="142330"/>
                          </a:solidFill>
                          <a:latin typeface="Fira Sans"/>
                          <a:ea typeface="Fira Sans"/>
                          <a:cs typeface="Fira Sans"/>
                          <a:sym typeface="Fira Sans"/>
                        </a:rPr>
                        <a:t>Shared-line timing</a:t>
                      </a:r>
                      <a:endParaRPr/>
                    </a:p>
                    <a:p>
                      <a:pPr indent="0" lvl="0" marL="0" marR="0" rtl="0" algn="l">
                        <a:spcBef>
                          <a:spcPts val="0"/>
                        </a:spcBef>
                        <a:spcAft>
                          <a:spcPts val="0"/>
                        </a:spcAft>
                        <a:buClr>
                          <a:srgbClr val="142330"/>
                        </a:buClr>
                        <a:buSzPts val="1800"/>
                        <a:buFont typeface="Fira Sans"/>
                        <a:buNone/>
                      </a:pPr>
                      <a:r>
                        <a:rPr b="0" lang="en-US" sz="1800">
                          <a:solidFill>
                            <a:srgbClr val="142330"/>
                          </a:solidFill>
                          <a:latin typeface="Fira Sans"/>
                          <a:ea typeface="Fira Sans"/>
                          <a:cs typeface="Fira Sans"/>
                          <a:sym typeface="Fira Sans"/>
                        </a:rPr>
                        <a:t>remains possible</a:t>
                      </a:r>
                      <a:endParaRPr/>
                    </a:p>
                  </a:txBody>
                  <a:tcPr marT="114300" marB="95250" marR="133350" marL="133350">
                    <a:solidFill>
                      <a:srgbClr val="F5F3ED"/>
                    </a:solidFill>
                  </a:tcPr>
                </a:tc>
                <a:tc>
                  <a:txBody>
                    <a:bodyPr/>
                    <a:lstStyle/>
                    <a:p>
                      <a:pPr indent="0" lvl="0" marL="0" marR="0" rtl="0" algn="l">
                        <a:spcBef>
                          <a:spcPts val="0"/>
                        </a:spcBef>
                        <a:spcAft>
                          <a:spcPts val="0"/>
                        </a:spcAft>
                        <a:buClr>
                          <a:srgbClr val="142330"/>
                        </a:buClr>
                        <a:buSzPts val="1800"/>
                        <a:buFont typeface="Fira Sans"/>
                        <a:buNone/>
                      </a:pPr>
                      <a:r>
                        <a:rPr b="0" lang="en-US" sz="1800">
                          <a:solidFill>
                            <a:srgbClr val="142330"/>
                          </a:solidFill>
                          <a:latin typeface="Fira Sans"/>
                          <a:ea typeface="Fira Sans"/>
                          <a:cs typeface="Fira Sans"/>
                          <a:sym typeface="Fira Sans"/>
                        </a:rPr>
                        <a:t>Encryption logic,</a:t>
                      </a:r>
                      <a:endParaRPr/>
                    </a:p>
                    <a:p>
                      <a:pPr indent="0" lvl="0" marL="0" marR="0" rtl="0" algn="l">
                        <a:spcBef>
                          <a:spcPts val="0"/>
                        </a:spcBef>
                        <a:spcAft>
                          <a:spcPts val="0"/>
                        </a:spcAft>
                        <a:buClr>
                          <a:srgbClr val="142330"/>
                        </a:buClr>
                        <a:buSzPts val="1800"/>
                        <a:buFont typeface="Fira Sans"/>
                        <a:buNone/>
                      </a:pPr>
                      <a:r>
                        <a:rPr b="0" lang="en-US" sz="1800">
                          <a:solidFill>
                            <a:srgbClr val="142330"/>
                          </a:solidFill>
                          <a:latin typeface="Fira Sans"/>
                          <a:ea typeface="Fira Sans"/>
                          <a:cs typeface="Fira Sans"/>
                          <a:sym typeface="Fira Sans"/>
                        </a:rPr>
                        <a:t>remapping</a:t>
                      </a:r>
                      <a:endParaRPr/>
                    </a:p>
                  </a:txBody>
                  <a:tcPr marT="114300" marB="95250" marR="133350" marL="133350">
                    <a:lnR cap="flat" cmpd="sng" w="9525">
                      <a:solidFill>
                        <a:srgbClr val="CCD3D4"/>
                      </a:solidFill>
                      <a:prstDash val="solid"/>
                      <a:round/>
                      <a:headEnd len="sm" w="sm" type="none"/>
                      <a:tailEnd len="sm" w="sm" type="none"/>
                    </a:lnR>
                    <a:solidFill>
                      <a:srgbClr val="F5F3ED"/>
                    </a:solidFill>
                  </a:tcPr>
                </a:tc>
              </a:tr>
              <a:tr h="1257300">
                <a:tc>
                  <a:txBody>
                    <a:bodyPr/>
                    <a:lstStyle/>
                    <a:p>
                      <a:pPr indent="0" lvl="0" marL="0" marR="0" rtl="0" algn="l">
                        <a:spcBef>
                          <a:spcPts val="0"/>
                        </a:spcBef>
                        <a:spcAft>
                          <a:spcPts val="0"/>
                        </a:spcAft>
                        <a:buClr>
                          <a:srgbClr val="142330"/>
                        </a:buClr>
                        <a:buSzPts val="1800"/>
                        <a:buFont typeface="Fira Sans"/>
                        <a:buNone/>
                      </a:pPr>
                      <a:r>
                        <a:rPr b="1" lang="en-US" sz="1800">
                          <a:solidFill>
                            <a:srgbClr val="142330"/>
                          </a:solidFill>
                          <a:latin typeface="Fira Sans"/>
                          <a:ea typeface="Fira Sans"/>
                          <a:cs typeface="Fira Sans"/>
                          <a:sym typeface="Fira Sans"/>
                        </a:rPr>
                        <a:t>ScatterCache</a:t>
                      </a:r>
                      <a:endParaRPr/>
                    </a:p>
                  </a:txBody>
                  <a:tcPr marT="114300" marB="95250" marR="133350" marL="133350">
                    <a:lnL cap="flat" cmpd="sng" w="9525">
                      <a:solidFill>
                        <a:srgbClr val="CCD3D4"/>
                      </a:solidFill>
                      <a:prstDash val="solid"/>
                      <a:round/>
                      <a:headEnd len="sm" w="sm" type="none"/>
                      <a:tailEnd len="sm" w="sm" type="none"/>
                    </a:lnL>
                    <a:lnB cap="flat" cmpd="sng" w="9525">
                      <a:solidFill>
                        <a:srgbClr val="CCD3D4"/>
                      </a:solidFill>
                      <a:prstDash val="solid"/>
                      <a:round/>
                      <a:headEnd len="sm" w="sm" type="none"/>
                      <a:tailEnd len="sm" w="sm" type="none"/>
                    </a:lnB>
                    <a:solidFill>
                      <a:srgbClr val="F5F3ED"/>
                    </a:solidFill>
                  </a:tcPr>
                </a:tc>
                <a:tc>
                  <a:txBody>
                    <a:bodyPr/>
                    <a:lstStyle/>
                    <a:p>
                      <a:pPr indent="0" lvl="0" marL="0" marR="0" rtl="0" algn="l">
                        <a:spcBef>
                          <a:spcPts val="0"/>
                        </a:spcBef>
                        <a:spcAft>
                          <a:spcPts val="0"/>
                        </a:spcAft>
                        <a:buClr>
                          <a:srgbClr val="142330"/>
                        </a:buClr>
                        <a:buSzPts val="1800"/>
                        <a:buFont typeface="Fira Sans"/>
                        <a:buNone/>
                      </a:pPr>
                      <a:r>
                        <a:rPr b="0" lang="en-US" sz="1800">
                          <a:solidFill>
                            <a:srgbClr val="142330"/>
                          </a:solidFill>
                          <a:latin typeface="Fira Sans"/>
                          <a:ea typeface="Fira Sans"/>
                          <a:cs typeface="Fira Sans"/>
                          <a:sym typeface="Fira Sans"/>
                        </a:rPr>
                        <a:t>Secret mappings</a:t>
                      </a:r>
                      <a:endParaRPr/>
                    </a:p>
                    <a:p>
                      <a:pPr indent="0" lvl="0" marL="0" marR="0" rtl="0" algn="l">
                        <a:spcBef>
                          <a:spcPts val="0"/>
                        </a:spcBef>
                        <a:spcAft>
                          <a:spcPts val="0"/>
                        </a:spcAft>
                        <a:buClr>
                          <a:srgbClr val="142330"/>
                        </a:buClr>
                        <a:buSzPts val="1800"/>
                        <a:buFont typeface="Fira Sans"/>
                        <a:buNone/>
                      </a:pPr>
                      <a:r>
                        <a:rPr b="0" lang="en-US" sz="1800">
                          <a:solidFill>
                            <a:srgbClr val="142330"/>
                          </a:solidFill>
                          <a:latin typeface="Fira Sans"/>
                          <a:ea typeface="Fira Sans"/>
                          <a:cs typeface="Fira Sans"/>
                          <a:sym typeface="Fira Sans"/>
                        </a:rPr>
                        <a:t>depend on domain</a:t>
                      </a:r>
                      <a:endParaRPr/>
                    </a:p>
                    <a:p>
                      <a:pPr indent="0" lvl="0" marL="0" marR="0" rtl="0" algn="l">
                        <a:spcBef>
                          <a:spcPts val="0"/>
                        </a:spcBef>
                        <a:spcAft>
                          <a:spcPts val="0"/>
                        </a:spcAft>
                        <a:buClr>
                          <a:srgbClr val="142330"/>
                        </a:buClr>
                        <a:buSzPts val="1800"/>
                        <a:buFont typeface="Fira Sans"/>
                        <a:buNone/>
                      </a:pPr>
                      <a:r>
                        <a:rPr b="0" lang="en-US" sz="1800">
                          <a:solidFill>
                            <a:srgbClr val="142330"/>
                          </a:solidFill>
                          <a:latin typeface="Fira Sans"/>
                          <a:ea typeface="Fira Sans"/>
                          <a:cs typeface="Fira Sans"/>
                          <a:sym typeface="Fira Sans"/>
                        </a:rPr>
                        <a:t>and cache way</a:t>
                      </a:r>
                      <a:endParaRPr/>
                    </a:p>
                  </a:txBody>
                  <a:tcPr marT="114300" marB="95250" marR="133350" marL="133350">
                    <a:lnB cap="flat" cmpd="sng" w="9525">
                      <a:solidFill>
                        <a:srgbClr val="CCD3D4"/>
                      </a:solidFill>
                      <a:prstDash val="solid"/>
                      <a:round/>
                      <a:headEnd len="sm" w="sm" type="none"/>
                      <a:tailEnd len="sm" w="sm" type="none"/>
                    </a:lnB>
                    <a:solidFill>
                      <a:srgbClr val="F5F3ED"/>
                    </a:solidFill>
                  </a:tcPr>
                </a:tc>
                <a:tc>
                  <a:txBody>
                    <a:bodyPr/>
                    <a:lstStyle/>
                    <a:p>
                      <a:pPr indent="0" lvl="0" marL="0" marR="0" rtl="0" algn="l">
                        <a:spcBef>
                          <a:spcPts val="0"/>
                        </a:spcBef>
                        <a:spcAft>
                          <a:spcPts val="0"/>
                        </a:spcAft>
                        <a:buClr>
                          <a:srgbClr val="142330"/>
                        </a:buClr>
                        <a:buSzPts val="1800"/>
                        <a:buFont typeface="Fira Sans"/>
                        <a:buNone/>
                      </a:pPr>
                      <a:r>
                        <a:rPr lang="en-US" sz="1800">
                          <a:solidFill>
                            <a:srgbClr val="142330"/>
                          </a:solidFill>
                          <a:latin typeface="Fira Sans"/>
                          <a:ea typeface="Fira Sans"/>
                          <a:cs typeface="Fira Sans"/>
                          <a:sym typeface="Fira Sans"/>
                        </a:rPr>
                        <a:t>Separate process IDs eliminate timing analysis</a:t>
                      </a:r>
                      <a:endParaRPr/>
                    </a:p>
                  </a:txBody>
                  <a:tcPr marT="114300" marB="95250" marR="133350" marL="133350">
                    <a:lnB cap="flat" cmpd="sng" w="9525">
                      <a:solidFill>
                        <a:srgbClr val="CCD3D4"/>
                      </a:solidFill>
                      <a:prstDash val="solid"/>
                      <a:round/>
                      <a:headEnd len="sm" w="sm" type="none"/>
                      <a:tailEnd len="sm" w="sm" type="none"/>
                    </a:lnB>
                    <a:solidFill>
                      <a:srgbClr val="F5F3ED"/>
                    </a:solidFill>
                  </a:tcPr>
                </a:tc>
                <a:tc>
                  <a:txBody>
                    <a:bodyPr/>
                    <a:lstStyle/>
                    <a:p>
                      <a:pPr indent="0" lvl="0" marL="0" marR="0" rtl="0" algn="l">
                        <a:spcBef>
                          <a:spcPts val="0"/>
                        </a:spcBef>
                        <a:spcAft>
                          <a:spcPts val="0"/>
                        </a:spcAft>
                        <a:buClr>
                          <a:srgbClr val="142330"/>
                        </a:buClr>
                        <a:buSzPts val="1800"/>
                        <a:buFont typeface="Fira Sans"/>
                        <a:buNone/>
                      </a:pPr>
                      <a:r>
                        <a:rPr b="0" lang="en-US" sz="1800">
                          <a:solidFill>
                            <a:srgbClr val="142330"/>
                          </a:solidFill>
                          <a:latin typeface="Fira Sans"/>
                          <a:ea typeface="Fira Sans"/>
                          <a:cs typeface="Fira Sans"/>
                          <a:sym typeface="Fira Sans"/>
                        </a:rPr>
                        <a:t>Mapping logic,</a:t>
                      </a:r>
                      <a:endParaRPr/>
                    </a:p>
                    <a:p>
                      <a:pPr indent="0" lvl="0" marL="0" marR="0" rtl="0" algn="l">
                        <a:spcBef>
                          <a:spcPts val="0"/>
                        </a:spcBef>
                        <a:spcAft>
                          <a:spcPts val="0"/>
                        </a:spcAft>
                        <a:buClr>
                          <a:srgbClr val="142330"/>
                        </a:buClr>
                        <a:buSzPts val="1800"/>
                        <a:buFont typeface="Fira Sans"/>
                        <a:buNone/>
                      </a:pPr>
                      <a:r>
                        <a:rPr b="0" lang="en-US" sz="1800">
                          <a:solidFill>
                            <a:srgbClr val="142330"/>
                          </a:solidFill>
                          <a:latin typeface="Fira Sans"/>
                          <a:ea typeface="Fira Sans"/>
                          <a:cs typeface="Fira Sans"/>
                          <a:sym typeface="Fira Sans"/>
                        </a:rPr>
                        <a:t>address metadata</a:t>
                      </a:r>
                      <a:endParaRPr/>
                    </a:p>
                  </a:txBody>
                  <a:tcPr marT="114300" marB="95250" marR="133350" marL="133350">
                    <a:lnR cap="flat" cmpd="sng" w="9525">
                      <a:solidFill>
                        <a:srgbClr val="CCD3D4"/>
                      </a:solidFill>
                      <a:prstDash val="solid"/>
                      <a:round/>
                      <a:headEnd len="sm" w="sm" type="none"/>
                      <a:tailEnd len="sm" w="sm" type="none"/>
                    </a:lnR>
                    <a:lnB cap="flat" cmpd="sng" w="9525">
                      <a:solidFill>
                        <a:srgbClr val="CCD3D4"/>
                      </a:solidFill>
                      <a:prstDash val="solid"/>
                      <a:round/>
                      <a:headEnd len="sm" w="sm" type="none"/>
                      <a:tailEnd len="sm" w="sm" type="none"/>
                    </a:lnB>
                    <a:solidFill>
                      <a:srgbClr val="F5F3ED"/>
                    </a:solidFill>
                  </a:tcPr>
                </a:tc>
              </a:tr>
            </a:tbl>
          </a:graphicData>
        </a:graphic>
      </p:graphicFrame>
      <p:sp>
        <p:nvSpPr>
          <p:cNvPr id="187" name="Google Shape;187;p11"/>
          <p:cNvSpPr/>
          <p:nvPr/>
        </p:nvSpPr>
        <p:spPr>
          <a:xfrm>
            <a:off x="619125" y="5429250"/>
            <a:ext cx="10953750" cy="428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087F83"/>
                </a:solidFill>
                <a:latin typeface="Fira Sans"/>
                <a:ea typeface="Fira Sans"/>
                <a:cs typeface="Fira Sans"/>
                <a:sym typeface="Fira Sans"/>
              </a:rPr>
              <a:t>An LLC-only defense would not directly stop attacks on L1</a:t>
            </a:r>
            <a:endParaRPr/>
          </a:p>
        </p:txBody>
      </p:sp>
      <p:sp>
        <p:nvSpPr>
          <p:cNvPr id="188" name="Google Shape;188;p11"/>
          <p:cNvSpPr/>
          <p:nvPr/>
        </p:nvSpPr>
        <p:spPr>
          <a:xfrm>
            <a:off x="619125" y="5962650"/>
            <a:ext cx="10953750" cy="333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00">
                <a:solidFill>
                  <a:srgbClr val="52616B"/>
                </a:solidFill>
                <a:latin typeface="Fira Sans"/>
                <a:ea typeface="Fira Sans"/>
                <a:cs typeface="Fira Sans"/>
                <a:sym typeface="Fira Sans"/>
              </a:rPr>
              <a:t>Separating cached data can still leave shared replacement state exposed.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193" name="Shape 193"/>
        <p:cNvGrpSpPr/>
        <p:nvPr/>
      </p:nvGrpSpPr>
      <p:grpSpPr>
        <a:xfrm>
          <a:off x="0" y="0"/>
          <a:ext cx="0" cy="0"/>
          <a:chOff x="0" y="0"/>
          <a:chExt cx="0" cy="0"/>
        </a:xfrm>
      </p:grpSpPr>
      <p:sp>
        <p:nvSpPr>
          <p:cNvPr id="194" name="Google Shape;194;p9"/>
          <p:cNvSpPr/>
          <p:nvPr/>
        </p:nvSpPr>
        <p:spPr>
          <a:xfrm>
            <a:off x="590550" y="304800"/>
            <a:ext cx="100012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087F83"/>
                </a:solidFill>
                <a:latin typeface="Fira Sans"/>
                <a:ea typeface="Fira Sans"/>
                <a:cs typeface="Fira Sans"/>
                <a:sym typeface="Fira Sans"/>
              </a:rPr>
              <a:t>04 / DMP DETECTION</a:t>
            </a:r>
            <a:endParaRPr/>
          </a:p>
        </p:txBody>
      </p:sp>
      <p:sp>
        <p:nvSpPr>
          <p:cNvPr id="195" name="Google Shape;195;p9"/>
          <p:cNvSpPr/>
          <p:nvPr/>
        </p:nvSpPr>
        <p:spPr>
          <a:xfrm>
            <a:off x="571500" y="8001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42330"/>
                </a:solidFill>
                <a:latin typeface="Fira Sans"/>
                <a:ea typeface="Fira Sans"/>
                <a:cs typeface="Fira Sans"/>
                <a:sym typeface="Fira Sans"/>
              </a:rPr>
              <a:t>Can an unread pointer bring its target into cache?</a:t>
            </a:r>
            <a:endParaRPr/>
          </a:p>
        </p:txBody>
      </p:sp>
      <p:sp>
        <p:nvSpPr>
          <p:cNvPr id="196" name="Google Shape;196;p9"/>
          <p:cNvSpPr/>
          <p:nvPr/>
        </p:nvSpPr>
        <p:spPr>
          <a:xfrm>
            <a:off x="590550" y="6429375"/>
            <a:ext cx="11010900" cy="9525"/>
          </a:xfrm>
          <a:prstGeom prst="rect">
            <a:avLst/>
          </a:prstGeom>
          <a:solidFill>
            <a:srgbClr val="CCD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590550" y="6524625"/>
            <a:ext cx="6191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2616B"/>
                </a:solidFill>
                <a:latin typeface="Fira Sans"/>
                <a:ea typeface="Fira Sans"/>
                <a:cs typeface="Fira Sans"/>
                <a:sym typeface="Fira Sans"/>
              </a:rPr>
              <a:t>ECE 592  /  GROUP G</a:t>
            </a:r>
            <a:endParaRPr/>
          </a:p>
        </p:txBody>
      </p:sp>
      <p:sp>
        <p:nvSpPr>
          <p:cNvPr id="198" name="Google Shape;198;p9"/>
          <p:cNvSpPr/>
          <p:nvPr/>
        </p:nvSpPr>
        <p:spPr>
          <a:xfrm>
            <a:off x="11115675" y="6505575"/>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52616B"/>
                </a:solidFill>
                <a:latin typeface="Fira Sans"/>
                <a:ea typeface="Fira Sans"/>
                <a:cs typeface="Fira Sans"/>
                <a:sym typeface="Fira Sans"/>
              </a:rPr>
              <a:t>09</a:t>
            </a:r>
            <a:endParaRPr/>
          </a:p>
        </p:txBody>
      </p:sp>
      <p:sp>
        <p:nvSpPr>
          <p:cNvPr id="199" name="Google Shape;199;p9"/>
          <p:cNvSpPr/>
          <p:nvPr/>
        </p:nvSpPr>
        <p:spPr>
          <a:xfrm>
            <a:off x="619125" y="1466850"/>
            <a:ext cx="10953750" cy="333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50">
                <a:solidFill>
                  <a:srgbClr val="52616B"/>
                </a:solidFill>
                <a:latin typeface="Fira Sans"/>
                <a:ea typeface="Fira Sans"/>
                <a:cs typeface="Fira Sans"/>
                <a:sym typeface="Fira Sans"/>
              </a:rPr>
              <a:t>20,000 trials per condition   /   4 MB target pool   /   Pinned core</a:t>
            </a:r>
            <a:endParaRPr/>
          </a:p>
        </p:txBody>
      </p:sp>
      <p:sp>
        <p:nvSpPr>
          <p:cNvPr id="200" name="Google Shape;200;p9"/>
          <p:cNvSpPr/>
          <p:nvPr/>
        </p:nvSpPr>
        <p:spPr>
          <a:xfrm>
            <a:off x="619125" y="1857375"/>
            <a:ext cx="10953750" cy="428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142330"/>
                </a:solidFill>
                <a:latin typeface="Fira Sans"/>
                <a:ea typeface="Fira Sans"/>
                <a:cs typeface="Fira Sans"/>
                <a:sym typeface="Fira Sans"/>
              </a:rPr>
              <a:t>64-entry pointer array</a:t>
            </a:r>
            <a:endParaRPr/>
          </a:p>
        </p:txBody>
      </p:sp>
      <p:sp>
        <p:nvSpPr>
          <p:cNvPr id="201" name="Google Shape;201;p9"/>
          <p:cNvSpPr/>
          <p:nvPr/>
        </p:nvSpPr>
        <p:spPr>
          <a:xfrm>
            <a:off x="619125" y="2428875"/>
            <a:ext cx="5467350" cy="1047750"/>
          </a:xfrm>
          <a:prstGeom prst="rect">
            <a:avLst/>
          </a:prstGeom>
          <a:solidFill>
            <a:srgbClr val="087F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6096000" y="2428875"/>
            <a:ext cx="5467350" cy="1047750"/>
          </a:xfrm>
          <a:prstGeom prst="rect">
            <a:avLst/>
          </a:prstGeom>
          <a:solidFill>
            <a:srgbClr val="101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809625" y="2562225"/>
            <a:ext cx="5095875"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FFFFFF"/>
                </a:solidFill>
                <a:latin typeface="Fira Sans"/>
                <a:ea typeface="Fira Sans"/>
                <a:cs typeface="Fira Sans"/>
                <a:sym typeface="Fira Sans"/>
              </a:rPr>
              <a:t>Entries 0–31</a:t>
            </a:r>
            <a:endParaRPr/>
          </a:p>
        </p:txBody>
      </p:sp>
      <p:sp>
        <p:nvSpPr>
          <p:cNvPr id="204" name="Google Shape;204;p9"/>
          <p:cNvSpPr/>
          <p:nvPr/>
        </p:nvSpPr>
        <p:spPr>
          <a:xfrm>
            <a:off x="809625" y="3000375"/>
            <a:ext cx="5095875"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FFFFFF"/>
                </a:solidFill>
                <a:latin typeface="Fira Sans"/>
                <a:ea typeface="Fira Sans"/>
                <a:cs typeface="Fira Sans"/>
                <a:sym typeface="Fira Sans"/>
              </a:rPr>
              <a:t>Read as integers</a:t>
            </a:r>
            <a:endParaRPr/>
          </a:p>
        </p:txBody>
      </p:sp>
      <p:sp>
        <p:nvSpPr>
          <p:cNvPr id="205" name="Google Shape;205;p9"/>
          <p:cNvSpPr/>
          <p:nvPr/>
        </p:nvSpPr>
        <p:spPr>
          <a:xfrm>
            <a:off x="6305550" y="2562225"/>
            <a:ext cx="5095875"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FFFFFF"/>
                </a:solidFill>
                <a:latin typeface="Fira Sans"/>
                <a:ea typeface="Fira Sans"/>
                <a:cs typeface="Fira Sans"/>
                <a:sym typeface="Fira Sans"/>
              </a:rPr>
              <a:t>Entries 32–63</a:t>
            </a:r>
            <a:endParaRPr/>
          </a:p>
        </p:txBody>
      </p:sp>
      <p:sp>
        <p:nvSpPr>
          <p:cNvPr id="206" name="Google Shape;206;p9"/>
          <p:cNvSpPr/>
          <p:nvPr/>
        </p:nvSpPr>
        <p:spPr>
          <a:xfrm>
            <a:off x="6305550" y="3000375"/>
            <a:ext cx="5095875"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FFFFFF"/>
                </a:solidFill>
                <a:latin typeface="Fira Sans"/>
                <a:ea typeface="Fira Sans"/>
                <a:cs typeface="Fira Sans"/>
                <a:sym typeface="Fira Sans"/>
              </a:rPr>
              <a:t>Leave unread</a:t>
            </a:r>
            <a:endParaRPr/>
          </a:p>
        </p:txBody>
      </p:sp>
      <p:sp>
        <p:nvSpPr>
          <p:cNvPr id="207" name="Google Shape;207;p9"/>
          <p:cNvSpPr/>
          <p:nvPr/>
        </p:nvSpPr>
        <p:spPr>
          <a:xfrm>
            <a:off x="619125" y="3829050"/>
            <a:ext cx="714375"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75">
                <a:solidFill>
                  <a:srgbClr val="087F83"/>
                </a:solidFill>
                <a:latin typeface="Fira Sans"/>
                <a:ea typeface="Fira Sans"/>
                <a:cs typeface="Fira Sans"/>
                <a:sym typeface="Fira Sans"/>
              </a:rPr>
              <a:t>1</a:t>
            </a:r>
            <a:endParaRPr/>
          </a:p>
        </p:txBody>
      </p:sp>
      <p:sp>
        <p:nvSpPr>
          <p:cNvPr id="208" name="Google Shape;208;p9"/>
          <p:cNvSpPr/>
          <p:nvPr/>
        </p:nvSpPr>
        <p:spPr>
          <a:xfrm>
            <a:off x="619125" y="4495800"/>
            <a:ext cx="25717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75">
                <a:solidFill>
                  <a:srgbClr val="142330"/>
                </a:solidFill>
                <a:latin typeface="Fira Sans"/>
                <a:ea typeface="Fira Sans"/>
                <a:cs typeface="Fira Sans"/>
                <a:sym typeface="Fira Sans"/>
              </a:rPr>
              <a:t>Flush all targets</a:t>
            </a:r>
            <a:endParaRPr/>
          </a:p>
        </p:txBody>
      </p:sp>
      <p:sp>
        <p:nvSpPr>
          <p:cNvPr id="209" name="Google Shape;209;p9"/>
          <p:cNvSpPr/>
          <p:nvPr/>
        </p:nvSpPr>
        <p:spPr>
          <a:xfrm>
            <a:off x="3381375" y="3829050"/>
            <a:ext cx="714375"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75">
                <a:solidFill>
                  <a:srgbClr val="087F83"/>
                </a:solidFill>
                <a:latin typeface="Fira Sans"/>
                <a:ea typeface="Fira Sans"/>
                <a:cs typeface="Fira Sans"/>
                <a:sym typeface="Fira Sans"/>
              </a:rPr>
              <a:t>2</a:t>
            </a:r>
            <a:endParaRPr/>
          </a:p>
        </p:txBody>
      </p:sp>
      <p:sp>
        <p:nvSpPr>
          <p:cNvPr id="210" name="Google Shape;210;p9"/>
          <p:cNvSpPr/>
          <p:nvPr/>
        </p:nvSpPr>
        <p:spPr>
          <a:xfrm>
            <a:off x="3381375" y="4495800"/>
            <a:ext cx="25717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75">
                <a:solidFill>
                  <a:srgbClr val="142330"/>
                </a:solidFill>
                <a:latin typeface="Fira Sans"/>
                <a:ea typeface="Fira Sans"/>
                <a:cs typeface="Fira Sans"/>
                <a:sym typeface="Fira Sans"/>
              </a:rPr>
              <a:t>Read 32 entries</a:t>
            </a:r>
            <a:endParaRPr/>
          </a:p>
        </p:txBody>
      </p:sp>
      <p:sp>
        <p:nvSpPr>
          <p:cNvPr id="211" name="Google Shape;211;p9"/>
          <p:cNvSpPr/>
          <p:nvPr/>
        </p:nvSpPr>
        <p:spPr>
          <a:xfrm>
            <a:off x="6143625" y="3829050"/>
            <a:ext cx="714375"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75">
                <a:solidFill>
                  <a:srgbClr val="087F83"/>
                </a:solidFill>
                <a:latin typeface="Fira Sans"/>
                <a:ea typeface="Fira Sans"/>
                <a:cs typeface="Fira Sans"/>
                <a:sym typeface="Fira Sans"/>
              </a:rPr>
              <a:t>3</a:t>
            </a:r>
            <a:endParaRPr/>
          </a:p>
        </p:txBody>
      </p:sp>
      <p:sp>
        <p:nvSpPr>
          <p:cNvPr id="212" name="Google Shape;212;p9"/>
          <p:cNvSpPr/>
          <p:nvPr/>
        </p:nvSpPr>
        <p:spPr>
          <a:xfrm>
            <a:off x="6143625" y="4495800"/>
            <a:ext cx="25717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75">
                <a:solidFill>
                  <a:srgbClr val="142330"/>
                </a:solidFill>
                <a:latin typeface="Fira Sans"/>
                <a:ea typeface="Fira Sans"/>
                <a:cs typeface="Fira Sans"/>
                <a:sym typeface="Fira Sans"/>
              </a:rPr>
              <a:t>Wait 1,000 iterations</a:t>
            </a:r>
            <a:endParaRPr/>
          </a:p>
        </p:txBody>
      </p:sp>
      <p:sp>
        <p:nvSpPr>
          <p:cNvPr id="213" name="Google Shape;213;p9"/>
          <p:cNvSpPr/>
          <p:nvPr/>
        </p:nvSpPr>
        <p:spPr>
          <a:xfrm>
            <a:off x="8905875" y="3829050"/>
            <a:ext cx="714375"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75">
                <a:solidFill>
                  <a:srgbClr val="087F83"/>
                </a:solidFill>
                <a:latin typeface="Fira Sans"/>
                <a:ea typeface="Fira Sans"/>
                <a:cs typeface="Fira Sans"/>
                <a:sym typeface="Fira Sans"/>
              </a:rPr>
              <a:t>4</a:t>
            </a:r>
            <a:endParaRPr/>
          </a:p>
        </p:txBody>
      </p:sp>
      <p:sp>
        <p:nvSpPr>
          <p:cNvPr id="214" name="Google Shape;214;p9"/>
          <p:cNvSpPr/>
          <p:nvPr/>
        </p:nvSpPr>
        <p:spPr>
          <a:xfrm>
            <a:off x="8905875" y="4495800"/>
            <a:ext cx="25717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75">
                <a:solidFill>
                  <a:srgbClr val="142330"/>
                </a:solidFill>
                <a:latin typeface="Fira Sans"/>
                <a:ea typeface="Fira Sans"/>
                <a:cs typeface="Fira Sans"/>
                <a:sym typeface="Fira Sans"/>
              </a:rPr>
              <a:t>Time an unread target</a:t>
            </a:r>
            <a:endParaRPr/>
          </a:p>
        </p:txBody>
      </p:sp>
      <p:sp>
        <p:nvSpPr>
          <p:cNvPr id="215" name="Google Shape;215;p9"/>
          <p:cNvSpPr/>
          <p:nvPr/>
        </p:nvSpPr>
        <p:spPr>
          <a:xfrm>
            <a:off x="619125" y="5381625"/>
            <a:ext cx="10934700" cy="9525"/>
          </a:xfrm>
          <a:prstGeom prst="rect">
            <a:avLst/>
          </a:prstGeom>
          <a:solidFill>
            <a:srgbClr val="CCD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619125" y="5619750"/>
            <a:ext cx="171450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087F83"/>
                </a:solidFill>
                <a:latin typeface="Fira Sans"/>
                <a:ea typeface="Fira Sans"/>
                <a:cs typeface="Fira Sans"/>
                <a:sym typeface="Fira Sans"/>
              </a:rPr>
              <a:t>CONTROL</a:t>
            </a:r>
            <a:endParaRPr/>
          </a:p>
        </p:txBody>
      </p:sp>
      <p:sp>
        <p:nvSpPr>
          <p:cNvPr id="217" name="Google Shape;217;p9"/>
          <p:cNvSpPr/>
          <p:nvPr/>
        </p:nvSpPr>
        <p:spPr>
          <a:xfrm>
            <a:off x="2524125" y="5572125"/>
            <a:ext cx="89535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950">
                <a:solidFill>
                  <a:srgbClr val="142330"/>
                </a:solidFill>
                <a:latin typeface="Fira Sans"/>
                <a:ea typeface="Fira Sans"/>
                <a:cs typeface="Fira Sans"/>
                <a:sym typeface="Fira Sans"/>
              </a:rPr>
              <a:t>Change only the probed array entry to a non-pointer value.</a:t>
            </a:r>
            <a:endParaRPr/>
          </a:p>
          <a:p>
            <a:pPr indent="0" lvl="0" marL="0" marR="0" rtl="0" algn="l">
              <a:spcBef>
                <a:spcPts val="0"/>
              </a:spcBef>
              <a:spcAft>
                <a:spcPts val="0"/>
              </a:spcAft>
              <a:buNone/>
            </a:pPr>
            <a:r>
              <a:rPr b="0" lang="en-US" sz="1950">
                <a:solidFill>
                  <a:srgbClr val="142330"/>
                </a:solidFill>
                <a:latin typeface="Fira Sans"/>
                <a:ea typeface="Fira Sans"/>
                <a:cs typeface="Fira Sans"/>
                <a:sym typeface="Fira Sans"/>
              </a:rPr>
              <a:t>Keep the addresses, flushes, and access pattern identical.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222" name="Shape 222"/>
        <p:cNvGrpSpPr/>
        <p:nvPr/>
      </p:nvGrpSpPr>
      <p:grpSpPr>
        <a:xfrm>
          <a:off x="0" y="0"/>
          <a:ext cx="0" cy="0"/>
          <a:chOff x="0" y="0"/>
          <a:chExt cx="0" cy="0"/>
        </a:xfrm>
      </p:grpSpPr>
      <p:sp>
        <p:nvSpPr>
          <p:cNvPr id="223" name="Google Shape;223;p10"/>
          <p:cNvSpPr/>
          <p:nvPr/>
        </p:nvSpPr>
        <p:spPr>
          <a:xfrm>
            <a:off x="590550" y="304800"/>
            <a:ext cx="100012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087F83"/>
                </a:solidFill>
                <a:latin typeface="Fira Sans"/>
                <a:ea typeface="Fira Sans"/>
                <a:cs typeface="Fira Sans"/>
                <a:sym typeface="Fira Sans"/>
              </a:rPr>
              <a:t>04 / DMP EVIDENCE</a:t>
            </a:r>
            <a:endParaRPr/>
          </a:p>
        </p:txBody>
      </p:sp>
      <p:sp>
        <p:nvSpPr>
          <p:cNvPr id="224" name="Google Shape;224;p10"/>
          <p:cNvSpPr/>
          <p:nvPr/>
        </p:nvSpPr>
        <p:spPr>
          <a:xfrm>
            <a:off x="571500" y="8001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42330"/>
                </a:solidFill>
                <a:latin typeface="Fira Sans"/>
                <a:ea typeface="Fira Sans"/>
                <a:cs typeface="Fira Sans"/>
                <a:sym typeface="Fira Sans"/>
              </a:rPr>
              <a:t>A repeatable signal on Greenforest</a:t>
            </a:r>
            <a:endParaRPr/>
          </a:p>
        </p:txBody>
      </p:sp>
      <p:sp>
        <p:nvSpPr>
          <p:cNvPr id="225" name="Google Shape;225;p10"/>
          <p:cNvSpPr/>
          <p:nvPr/>
        </p:nvSpPr>
        <p:spPr>
          <a:xfrm>
            <a:off x="590550" y="6429375"/>
            <a:ext cx="11010900" cy="9525"/>
          </a:xfrm>
          <a:prstGeom prst="rect">
            <a:avLst/>
          </a:prstGeom>
          <a:solidFill>
            <a:srgbClr val="CCD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
          <p:cNvSpPr/>
          <p:nvPr/>
        </p:nvSpPr>
        <p:spPr>
          <a:xfrm>
            <a:off x="590550" y="6524625"/>
            <a:ext cx="6191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2616B"/>
                </a:solidFill>
                <a:latin typeface="Fira Sans"/>
                <a:ea typeface="Fira Sans"/>
                <a:cs typeface="Fira Sans"/>
                <a:sym typeface="Fira Sans"/>
              </a:rPr>
              <a:t>ECE 592  /  GROUP G</a:t>
            </a:r>
            <a:endParaRPr/>
          </a:p>
        </p:txBody>
      </p:sp>
      <p:sp>
        <p:nvSpPr>
          <p:cNvPr id="227" name="Google Shape;227;p10"/>
          <p:cNvSpPr/>
          <p:nvPr/>
        </p:nvSpPr>
        <p:spPr>
          <a:xfrm>
            <a:off x="11115675" y="6505575"/>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52616B"/>
                </a:solidFill>
                <a:latin typeface="Fira Sans"/>
                <a:ea typeface="Fira Sans"/>
                <a:cs typeface="Fira Sans"/>
                <a:sym typeface="Fira Sans"/>
              </a:rPr>
              <a:t>10</a:t>
            </a:r>
            <a:endParaRPr/>
          </a:p>
        </p:txBody>
      </p:sp>
      <p:sp>
        <p:nvSpPr>
          <p:cNvPr id="228" name="Google Shape;228;p10"/>
          <p:cNvSpPr/>
          <p:nvPr/>
        </p:nvSpPr>
        <p:spPr>
          <a:xfrm>
            <a:off x="619125" y="1809750"/>
            <a:ext cx="790575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25">
                <a:solidFill>
                  <a:srgbClr val="142330"/>
                </a:solidFill>
                <a:latin typeface="Fira Sans"/>
                <a:ea typeface="Fira Sans"/>
                <a:cs typeface="Fira Sans"/>
                <a:sym typeface="Fira Sans"/>
              </a:rPr>
              <a:t>Overall cache-hit rate after flush</a:t>
            </a:r>
            <a:endParaRPr/>
          </a:p>
        </p:txBody>
      </p:sp>
      <p:graphicFrame>
        <p:nvGraphicFramePr>
          <p:cNvPr id="229" name="Google Shape;229;p10"/>
          <p:cNvGraphicFramePr/>
          <p:nvPr/>
        </p:nvGraphicFramePr>
        <p:xfrm>
          <a:off x="571500" y="2266950"/>
          <a:ext cx="8001000" cy="3190875"/>
        </p:xfrm>
        <a:graphic>
          <a:graphicData uri="http://schemas.openxmlformats.org/drawingml/2006/chart">
            <c:chart r:id="rId3"/>
          </a:graphicData>
        </a:graphic>
      </p:graphicFrame>
      <p:sp>
        <p:nvSpPr>
          <p:cNvPr id="230" name="Google Shape;230;p10"/>
          <p:cNvSpPr/>
          <p:nvPr/>
        </p:nvSpPr>
        <p:spPr>
          <a:xfrm>
            <a:off x="9001125" y="2181225"/>
            <a:ext cx="2714625"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500">
                <a:solidFill>
                  <a:srgbClr val="087F83"/>
                </a:solidFill>
                <a:latin typeface="Fira Sans"/>
                <a:ea typeface="Fira Sans"/>
                <a:cs typeface="Fira Sans"/>
                <a:sym typeface="Fira Sans"/>
              </a:rPr>
              <a:t>26–50%</a:t>
            </a:r>
            <a:endParaRPr/>
          </a:p>
        </p:txBody>
      </p:sp>
      <p:sp>
        <p:nvSpPr>
          <p:cNvPr id="231" name="Google Shape;231;p10"/>
          <p:cNvSpPr/>
          <p:nvPr/>
        </p:nvSpPr>
        <p:spPr>
          <a:xfrm>
            <a:off x="9048750" y="3152775"/>
            <a:ext cx="257175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142330"/>
                </a:solidFill>
                <a:latin typeface="Fira Sans"/>
                <a:ea typeface="Fira Sans"/>
                <a:cs typeface="Fira Sans"/>
                <a:sym typeface="Fira Sans"/>
              </a:rPr>
              <a:t>peak hit rate</a:t>
            </a:r>
            <a:endParaRPr/>
          </a:p>
          <a:p>
            <a:pPr indent="0" lvl="0" marL="0" marR="0" rtl="0" algn="l">
              <a:spcBef>
                <a:spcPts val="0"/>
              </a:spcBef>
              <a:spcAft>
                <a:spcPts val="0"/>
              </a:spcAft>
              <a:buNone/>
            </a:pPr>
            <a:r>
              <a:rPr b="1" lang="en-US" sz="2175">
                <a:solidFill>
                  <a:srgbClr val="142330"/>
                </a:solidFill>
                <a:latin typeface="Fira Sans"/>
                <a:ea typeface="Fira Sans"/>
                <a:cs typeface="Fira Sans"/>
                <a:sym typeface="Fira Sans"/>
              </a:rPr>
              <a:t>at distance 1</a:t>
            </a:r>
            <a:endParaRPr/>
          </a:p>
        </p:txBody>
      </p:sp>
      <p:sp>
        <p:nvSpPr>
          <p:cNvPr id="232" name="Google Shape;232;p10"/>
          <p:cNvSpPr/>
          <p:nvPr/>
        </p:nvSpPr>
        <p:spPr>
          <a:xfrm>
            <a:off x="9048750" y="4410075"/>
            <a:ext cx="2571750" cy="742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52616B"/>
                </a:solidFill>
                <a:latin typeface="Fira Sans"/>
                <a:ea typeface="Fira Sans"/>
                <a:cs typeface="Fira Sans"/>
                <a:sym typeface="Fira Sans"/>
              </a:rPr>
              <a:t>i7-14700</a:t>
            </a:r>
            <a:endParaRPr/>
          </a:p>
          <a:p>
            <a:pPr indent="0" lvl="0" marL="0" marR="0" rtl="0" algn="l">
              <a:spcBef>
                <a:spcPts val="0"/>
              </a:spcBef>
              <a:spcAft>
                <a:spcPts val="0"/>
              </a:spcAft>
              <a:buNone/>
            </a:pPr>
            <a:r>
              <a:rPr b="0" lang="en-US" sz="1875">
                <a:solidFill>
                  <a:srgbClr val="52616B"/>
                </a:solidFill>
                <a:latin typeface="Fira Sans"/>
                <a:ea typeface="Fira Sans"/>
                <a:cs typeface="Fira Sans"/>
                <a:sym typeface="Fira Sans"/>
              </a:rPr>
              <a:t>Raptor Lake</a:t>
            </a:r>
            <a:endParaRPr/>
          </a:p>
        </p:txBody>
      </p:sp>
      <p:sp>
        <p:nvSpPr>
          <p:cNvPr id="233" name="Google Shape;233;p10"/>
          <p:cNvSpPr/>
          <p:nvPr/>
        </p:nvSpPr>
        <p:spPr>
          <a:xfrm>
            <a:off x="619125" y="5667375"/>
            <a:ext cx="10810875"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142330"/>
                </a:solidFill>
                <a:latin typeface="Fira Sans"/>
                <a:ea typeface="Fira Sans"/>
                <a:cs typeface="Fira Sans"/>
                <a:sym typeface="Fira Sans"/>
              </a:rPr>
              <a:t>DMP observed on Greenforest under this test</a:t>
            </a:r>
            <a:endParaRPr/>
          </a:p>
        </p:txBody>
      </p:sp>
      <p:sp>
        <p:nvSpPr>
          <p:cNvPr id="234" name="Google Shape;234;p10"/>
          <p:cNvSpPr/>
          <p:nvPr/>
        </p:nvSpPr>
        <p:spPr>
          <a:xfrm>
            <a:off x="619125" y="6086475"/>
            <a:ext cx="1085850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50">
                <a:solidFill>
                  <a:srgbClr val="52616B"/>
                </a:solidFill>
                <a:latin typeface="Fira Sans"/>
                <a:ea typeface="Fira Sans"/>
                <a:cs typeface="Fira Sans"/>
                <a:sym typeface="Fira Sans"/>
              </a:rPr>
              <a:t>Seven other machines: not observed under tested conditions. Absence remains unproven.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2C"/>
        </a:solidFill>
      </p:bgPr>
    </p:bg>
    <p:spTree>
      <p:nvGrpSpPr>
        <p:cNvPr id="239" name="Shape 239"/>
        <p:cNvGrpSpPr/>
        <p:nvPr/>
      </p:nvGrpSpPr>
      <p:grpSpPr>
        <a:xfrm>
          <a:off x="0" y="0"/>
          <a:ext cx="0" cy="0"/>
          <a:chOff x="0" y="0"/>
          <a:chExt cx="0" cy="0"/>
        </a:xfrm>
      </p:grpSpPr>
      <p:sp>
        <p:nvSpPr>
          <p:cNvPr id="240" name="Google Shape;240;p12"/>
          <p:cNvSpPr/>
          <p:nvPr/>
        </p:nvSpPr>
        <p:spPr>
          <a:xfrm>
            <a:off x="590550" y="304800"/>
            <a:ext cx="100012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8DE1C9"/>
                </a:solidFill>
                <a:latin typeface="Fira Sans"/>
                <a:ea typeface="Fira Sans"/>
                <a:cs typeface="Fira Sans"/>
                <a:sym typeface="Fira Sans"/>
              </a:rPr>
              <a:t>CONCLUSION</a:t>
            </a:r>
            <a:endParaRPr/>
          </a:p>
        </p:txBody>
      </p:sp>
      <p:sp>
        <p:nvSpPr>
          <p:cNvPr id="241" name="Google Shape;241;p12"/>
          <p:cNvSpPr/>
          <p:nvPr/>
        </p:nvSpPr>
        <p:spPr>
          <a:xfrm>
            <a:off x="571500" y="8001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F5F3ED"/>
                </a:solidFill>
                <a:latin typeface="Fira Sans"/>
                <a:ea typeface="Fira Sans"/>
                <a:cs typeface="Fira Sans"/>
                <a:sym typeface="Fira Sans"/>
              </a:rPr>
              <a:t>What the experiments establish</a:t>
            </a:r>
            <a:endParaRPr/>
          </a:p>
        </p:txBody>
      </p:sp>
      <p:sp>
        <p:nvSpPr>
          <p:cNvPr id="242" name="Google Shape;242;p12"/>
          <p:cNvSpPr/>
          <p:nvPr/>
        </p:nvSpPr>
        <p:spPr>
          <a:xfrm>
            <a:off x="590550" y="6429375"/>
            <a:ext cx="11010900" cy="9525"/>
          </a:xfrm>
          <a:prstGeom prst="rect">
            <a:avLst/>
          </a:prstGeom>
          <a:solidFill>
            <a:srgbClr val="3645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2"/>
          <p:cNvSpPr/>
          <p:nvPr/>
        </p:nvSpPr>
        <p:spPr>
          <a:xfrm>
            <a:off x="590550" y="6524625"/>
            <a:ext cx="6191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B3BFC6"/>
                </a:solidFill>
                <a:latin typeface="Fira Sans"/>
                <a:ea typeface="Fira Sans"/>
                <a:cs typeface="Fira Sans"/>
                <a:sym typeface="Fira Sans"/>
              </a:rPr>
              <a:t>ECE 592  /  GROUP G</a:t>
            </a:r>
            <a:endParaRPr/>
          </a:p>
        </p:txBody>
      </p:sp>
      <p:sp>
        <p:nvSpPr>
          <p:cNvPr id="244" name="Google Shape;244;p12"/>
          <p:cNvSpPr/>
          <p:nvPr/>
        </p:nvSpPr>
        <p:spPr>
          <a:xfrm>
            <a:off x="11115675" y="6505575"/>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B3BFC6"/>
                </a:solidFill>
                <a:latin typeface="Fira Sans"/>
                <a:ea typeface="Fira Sans"/>
                <a:cs typeface="Fira Sans"/>
                <a:sym typeface="Fira Sans"/>
              </a:rPr>
              <a:t>12</a:t>
            </a:r>
            <a:endParaRPr/>
          </a:p>
        </p:txBody>
      </p:sp>
      <p:sp>
        <p:nvSpPr>
          <p:cNvPr id="245" name="Google Shape;245;p12"/>
          <p:cNvSpPr/>
          <p:nvPr/>
        </p:nvSpPr>
        <p:spPr>
          <a:xfrm>
            <a:off x="619125" y="1981200"/>
            <a:ext cx="952500" cy="523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8DE1C9"/>
                </a:solidFill>
                <a:latin typeface="Fira Sans"/>
                <a:ea typeface="Fira Sans"/>
                <a:cs typeface="Fira Sans"/>
                <a:sym typeface="Fira Sans"/>
              </a:rPr>
              <a:t>01</a:t>
            </a:r>
            <a:endParaRPr/>
          </a:p>
        </p:txBody>
      </p:sp>
      <p:sp>
        <p:nvSpPr>
          <p:cNvPr id="246" name="Google Shape;246;p12"/>
          <p:cNvSpPr/>
          <p:nvPr/>
        </p:nvSpPr>
        <p:spPr>
          <a:xfrm>
            <a:off x="1762125" y="1981200"/>
            <a:ext cx="981075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75">
                <a:solidFill>
                  <a:srgbClr val="F5F3ED"/>
                </a:solidFill>
                <a:latin typeface="Fira Sans"/>
                <a:ea typeface="Fira Sans"/>
                <a:cs typeface="Fira Sans"/>
                <a:sym typeface="Fira Sans"/>
              </a:rPr>
              <a:t>Controls shape the conclusion</a:t>
            </a:r>
            <a:endParaRPr/>
          </a:p>
        </p:txBody>
      </p:sp>
      <p:sp>
        <p:nvSpPr>
          <p:cNvPr id="247" name="Google Shape;247;p12"/>
          <p:cNvSpPr/>
          <p:nvPr/>
        </p:nvSpPr>
        <p:spPr>
          <a:xfrm>
            <a:off x="1762125" y="2524125"/>
            <a:ext cx="9810750" cy="742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B9CAD4"/>
                </a:solidFill>
                <a:latin typeface="Fira Sans"/>
                <a:ea typeface="Fira Sans"/>
                <a:cs typeface="Fira Sans"/>
                <a:sym typeface="Fira Sans"/>
              </a:rPr>
              <a:t>Calibration, warm-up, and decoy tests determine whether</a:t>
            </a:r>
            <a:endParaRPr/>
          </a:p>
          <a:p>
            <a:pPr indent="0" lvl="0" marL="0" marR="0" rtl="0" algn="l">
              <a:spcBef>
                <a:spcPts val="0"/>
              </a:spcBef>
              <a:spcAft>
                <a:spcPts val="0"/>
              </a:spcAft>
              <a:buNone/>
            </a:pPr>
            <a:r>
              <a:rPr b="0" lang="en-US" sz="2025">
                <a:solidFill>
                  <a:srgbClr val="B9CAD4"/>
                </a:solidFill>
                <a:latin typeface="Fira Sans"/>
                <a:ea typeface="Fira Sans"/>
                <a:cs typeface="Fira Sans"/>
                <a:sym typeface="Fira Sans"/>
              </a:rPr>
              <a:t>a timing difference supports the intended claim.</a:t>
            </a:r>
            <a:endParaRPr/>
          </a:p>
        </p:txBody>
      </p:sp>
      <p:sp>
        <p:nvSpPr>
          <p:cNvPr id="248" name="Google Shape;248;p12"/>
          <p:cNvSpPr/>
          <p:nvPr/>
        </p:nvSpPr>
        <p:spPr>
          <a:xfrm>
            <a:off x="619125" y="3362325"/>
            <a:ext cx="952500" cy="523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8DE1C9"/>
                </a:solidFill>
                <a:latin typeface="Fira Sans"/>
                <a:ea typeface="Fira Sans"/>
                <a:cs typeface="Fira Sans"/>
                <a:sym typeface="Fira Sans"/>
              </a:rPr>
              <a:t>02</a:t>
            </a:r>
            <a:endParaRPr/>
          </a:p>
        </p:txBody>
      </p:sp>
      <p:sp>
        <p:nvSpPr>
          <p:cNvPr id="249" name="Google Shape;249;p12"/>
          <p:cNvSpPr/>
          <p:nvPr/>
        </p:nvSpPr>
        <p:spPr>
          <a:xfrm>
            <a:off x="1762125" y="3362325"/>
            <a:ext cx="981075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75">
                <a:solidFill>
                  <a:srgbClr val="F5F3ED"/>
                </a:solidFill>
                <a:latin typeface="Fira Sans"/>
                <a:ea typeface="Fira Sans"/>
                <a:cs typeface="Fira Sans"/>
                <a:sym typeface="Fira Sans"/>
              </a:rPr>
              <a:t>Leakage varies by machine and setup</a:t>
            </a:r>
            <a:endParaRPr/>
          </a:p>
        </p:txBody>
      </p:sp>
      <p:sp>
        <p:nvSpPr>
          <p:cNvPr id="250" name="Google Shape;250;p12"/>
          <p:cNvSpPr/>
          <p:nvPr/>
        </p:nvSpPr>
        <p:spPr>
          <a:xfrm>
            <a:off x="1762125" y="3905250"/>
            <a:ext cx="9810750" cy="742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B9CAD4"/>
                </a:solidFill>
                <a:latin typeface="Fira Sans"/>
                <a:ea typeface="Fira Sans"/>
                <a:cs typeface="Fira Sans"/>
                <a:sym typeface="Fira Sans"/>
              </a:rPr>
              <a:t>Prime+Probe was strong on six hosts. Flush-based results</a:t>
            </a:r>
            <a:endParaRPr/>
          </a:p>
          <a:p>
            <a:pPr indent="0" lvl="0" marL="0" marR="0" rtl="0" algn="l">
              <a:spcBef>
                <a:spcPts val="0"/>
              </a:spcBef>
              <a:spcAft>
                <a:spcPts val="0"/>
              </a:spcAft>
              <a:buNone/>
            </a:pPr>
            <a:r>
              <a:rPr b="0" lang="en-US" sz="2025">
                <a:solidFill>
                  <a:srgbClr val="B9CAD4"/>
                </a:solidFill>
                <a:latin typeface="Fira Sans"/>
                <a:ea typeface="Fira Sans"/>
                <a:cs typeface="Fira Sans"/>
                <a:sym typeface="Fira Sans"/>
              </a:rPr>
              <a:t>changed substantially with hardware and conditions.</a:t>
            </a:r>
            <a:endParaRPr/>
          </a:p>
        </p:txBody>
      </p:sp>
      <p:sp>
        <p:nvSpPr>
          <p:cNvPr id="251" name="Google Shape;251;p12"/>
          <p:cNvSpPr/>
          <p:nvPr/>
        </p:nvSpPr>
        <p:spPr>
          <a:xfrm>
            <a:off x="619125" y="4743450"/>
            <a:ext cx="952500" cy="523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8DE1C9"/>
                </a:solidFill>
                <a:latin typeface="Fira Sans"/>
                <a:ea typeface="Fira Sans"/>
                <a:cs typeface="Fira Sans"/>
                <a:sym typeface="Fira Sans"/>
              </a:rPr>
              <a:t>03</a:t>
            </a:r>
            <a:endParaRPr/>
          </a:p>
        </p:txBody>
      </p:sp>
      <p:sp>
        <p:nvSpPr>
          <p:cNvPr id="252" name="Google Shape;252;p12"/>
          <p:cNvSpPr/>
          <p:nvPr/>
        </p:nvSpPr>
        <p:spPr>
          <a:xfrm>
            <a:off x="1762125" y="4743450"/>
            <a:ext cx="981075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75">
                <a:solidFill>
                  <a:srgbClr val="F5F3ED"/>
                </a:solidFill>
                <a:latin typeface="Fira Sans"/>
                <a:ea typeface="Fira Sans"/>
                <a:cs typeface="Fira Sans"/>
                <a:sym typeface="Fira Sans"/>
              </a:rPr>
              <a:t>Memory contents can change cache state</a:t>
            </a:r>
            <a:endParaRPr/>
          </a:p>
        </p:txBody>
      </p:sp>
      <p:sp>
        <p:nvSpPr>
          <p:cNvPr id="253" name="Google Shape;253;p12"/>
          <p:cNvSpPr/>
          <p:nvPr/>
        </p:nvSpPr>
        <p:spPr>
          <a:xfrm>
            <a:off x="1762125" y="5286375"/>
            <a:ext cx="9810750" cy="742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B9CAD4"/>
                </a:solidFill>
                <a:latin typeface="Fira Sans"/>
                <a:ea typeface="Fira Sans"/>
                <a:cs typeface="Fira Sans"/>
                <a:sym typeface="Fira Sans"/>
              </a:rPr>
              <a:t>Greenforest repeatedly cached flushed, unread targets.</a:t>
            </a:r>
            <a:endParaRPr/>
          </a:p>
          <a:p>
            <a:pPr indent="0" lvl="0" marL="0" marR="0" rtl="0" algn="l">
              <a:spcBef>
                <a:spcPts val="0"/>
              </a:spcBef>
              <a:spcAft>
                <a:spcPts val="0"/>
              </a:spcAft>
              <a:buNone/>
            </a:pPr>
            <a:r>
              <a:rPr b="0" lang="en-US" sz="2025">
                <a:solidFill>
                  <a:srgbClr val="B9CAD4"/>
                </a:solidFill>
                <a:latin typeface="Fira Sans"/>
                <a:ea typeface="Fira Sans"/>
                <a:cs typeface="Fira Sans"/>
                <a:sym typeface="Fira Sans"/>
              </a:rPr>
              <a:t>The tested pattern supports DMP evidence with clear limits.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